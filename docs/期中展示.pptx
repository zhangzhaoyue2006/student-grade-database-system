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6256000" cy="9144000"/>
  <p:notesSz cx="9144000" cy="16256000"/>
  <p:embeddedFontLst>
    <p:embeddedFont>
      <p:font typeface="Quattrocento Sans" panose="020B0502050000020003" pitchFamily="34" charset="0"/>
      <p:regular r:id="rId22"/>
    </p:embeddedFont>
    <p:embeddedFont>
      <p:font typeface="Quattrocento Sans" panose="020B0502050000020003" pitchFamily="34" charset="-122"/>
      <p:regular r:id="rId23"/>
    </p:embeddedFont>
    <p:embeddedFont>
      <p:font typeface="Quattrocento Sans" panose="020B0502050000020003" pitchFamily="34" charset="-120"/>
      <p:regular r:id="rId24"/>
    </p:embeddedFont>
    <p:embeddedFont>
      <p:font typeface="微软雅黑" panose="020B0503020204020204" pitchFamily="34" charset="-122"/>
      <p:regular r:id="rId25"/>
      <p:bold r:id="rId26"/>
    </p:embeddedFont>
    <p:embeddedFont>
      <p:font typeface="微软雅黑" panose="020B0503020204020204" pitchFamily="34" charset="-120"/>
      <p:regular r:id="rId27"/>
      <p:bold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4FA"/>
    <a:srgbClr val="004060"/>
    <a:srgbClr val="005C82"/>
    <a:srgbClr val="333333"/>
    <a:srgbClr val="0066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11.fntdata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0" Type="http://schemas.openxmlformats.org/officeDocument/2006/relationships/notesSlide" Target="../notesSlides/notesSlide4.xml"/><Relationship Id="rId2" Type="http://schemas.openxmlformats.org/officeDocument/2006/relationships/tags" Target="../tags/tag8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270000"/>
          </a:xfrm>
          <a:prstGeom prst="rect">
            <a:avLst/>
          </a:prstGeom>
          <a:solidFill>
            <a:srgbClr val="F4FAFE"/>
          </a:solidFill>
        </p:spPr>
      </p:sp>
      <p:sp>
        <p:nvSpPr>
          <p:cNvPr id="3" name="Shape 1"/>
          <p:cNvSpPr/>
          <p:nvPr/>
        </p:nvSpPr>
        <p:spPr>
          <a:xfrm>
            <a:off x="635000" y="304800"/>
            <a:ext cx="635000" cy="635000"/>
          </a:xfrm>
          <a:prstGeom prst="ellipse">
            <a:avLst/>
          </a:prstGeom>
          <a:solidFill>
            <a:srgbClr val="E0F4FA"/>
          </a:solidFill>
          <a:ln w="25400">
            <a:solidFill>
              <a:srgbClr val="005C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47800" y="355600"/>
            <a:ext cx="4064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数据库</a:t>
            </a:r>
            <a:r>
              <a:rPr lang="zh-CN" altLang="en-US" sz="20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及</a:t>
            </a:r>
            <a:r>
              <a:rPr lang="zh-CN" altLang="en-US" sz="20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实现</a:t>
            </a:r>
            <a:endParaRPr lang="zh-CN" altLang="en-US" sz="2000" b="1" dirty="0">
              <a:solidFill>
                <a:srgbClr val="005C82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447800" y="736600"/>
            <a:ext cx="4064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B0BEC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DATABASE SYSTEMS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1371600"/>
            <a:ext cx="16256000" cy="3302000"/>
          </a:xfrm>
          <a:prstGeom prst="rect">
            <a:avLst/>
          </a:prstGeom>
          <a:gradFill flip="none" rotWithShape="1">
            <a:gsLst>
              <a:gs pos="0">
                <a:srgbClr val="004060"/>
              </a:gs>
              <a:gs pos="50000">
                <a:srgbClr val="005C82"/>
              </a:gs>
              <a:gs pos="100000">
                <a:srgbClr val="007AA8"/>
              </a:gs>
            </a:gsLst>
            <a:lin ang="5400000" scaled="1"/>
          </a:gradFill>
        </p:spPr>
      </p:sp>
      <p:sp>
        <p:nvSpPr>
          <p:cNvPr id="7" name="Text 5"/>
          <p:cNvSpPr/>
          <p:nvPr/>
        </p:nvSpPr>
        <p:spPr>
          <a:xfrm>
            <a:off x="762000" y="1752600"/>
            <a:ext cx="13970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学生成绩数据库系统设计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62000" y="2768600"/>
            <a:ext cx="1270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kern="0" spc="2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STUDENT GRADE DATABASE SYSTEM DESIGN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0" y="4673600"/>
            <a:ext cx="16256000" cy="4470400"/>
          </a:xfrm>
          <a:prstGeom prst="rect">
            <a:avLst/>
          </a:prstGeom>
          <a:solidFill>
            <a:srgbClr val="F4FAFE"/>
          </a:solidFill>
        </p:spPr>
        <p:txBody>
          <a:bodyPr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16000" y="5003800"/>
            <a:ext cx="6539865" cy="12807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3600" b="1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组员</a:t>
            </a:r>
            <a:r>
              <a:rPr lang="en-US" sz="3600" b="1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：</a:t>
            </a:r>
            <a:r>
              <a:rPr lang="zh-CN" altLang="en-US" sz="3600" b="1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胡海漫，陈瑞轩，章赵岳</a:t>
            </a:r>
            <a:endParaRPr lang="zh-CN" altLang="en-US" sz="3600" b="1" dirty="0">
              <a:solidFill>
                <a:srgbClr val="333333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16000" y="5613400"/>
            <a:ext cx="635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2600" y="6375400"/>
            <a:ext cx="355600" cy="279400"/>
          </a:xfrm>
          <a:prstGeom prst="diamond">
            <a:avLst/>
          </a:prstGeom>
          <a:solidFill>
            <a:srgbClr val="007AA8"/>
          </a:solidFill>
        </p:spPr>
      </p:sp>
      <p:sp>
        <p:nvSpPr>
          <p:cNvPr id="15" name="Text 13"/>
          <p:cNvSpPr/>
          <p:nvPr/>
        </p:nvSpPr>
        <p:spPr>
          <a:xfrm>
            <a:off x="1016000" y="6375400"/>
            <a:ext cx="762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3600" b="1" dirty="0">
                <a:solidFill>
                  <a:srgbClr val="5555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大数据学院</a:t>
            </a:r>
            <a:r>
              <a:rPr lang="en-US" sz="3600" b="1" dirty="0">
                <a:solidFill>
                  <a:srgbClr val="5555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· </a:t>
            </a:r>
            <a:r>
              <a:rPr lang="zh-CN" altLang="en-US" sz="3600" b="1" dirty="0">
                <a:solidFill>
                  <a:srgbClr val="5555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数据库及实现</a:t>
            </a:r>
            <a:endParaRPr lang="zh-CN" altLang="en-US" sz="3600" b="1" dirty="0">
              <a:solidFill>
                <a:srgbClr val="555555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2192000" y="4953000"/>
            <a:ext cx="3556000" cy="3556000"/>
          </a:xfrm>
          <a:prstGeom prst="rect">
            <a:avLst/>
          </a:prstGeom>
          <a:solidFill>
            <a:srgbClr val="005C82">
              <a:alpha val="3137"/>
            </a:srgbClr>
          </a:solidFill>
          <a:ln w="12700">
            <a:solidFill>
              <a:srgbClr val="005C82">
                <a:alpha val="18824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700000" y="5461000"/>
            <a:ext cx="2540000" cy="2540000"/>
          </a:xfrm>
          <a:prstGeom prst="rect">
            <a:avLst/>
          </a:prstGeom>
          <a:solidFill>
            <a:srgbClr val="005C82">
              <a:alpha val="1961"/>
            </a:srgbClr>
          </a:solidFill>
          <a:ln w="12700">
            <a:solidFill>
              <a:srgbClr val="005C82">
                <a:alpha val="27059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08000" y="5969000"/>
            <a:ext cx="1524000" cy="1524000"/>
          </a:xfrm>
          <a:prstGeom prst="rect">
            <a:avLst/>
          </a:prstGeom>
          <a:solidFill>
            <a:srgbClr val="005C82">
              <a:alpha val="3922"/>
            </a:srgbClr>
          </a:solidFill>
          <a:ln w="25400">
            <a:solidFill>
              <a:srgbClr val="005C82">
                <a:alpha val="37647"/>
              </a:srgbClr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482600" y="5448300"/>
            <a:ext cx="355600" cy="279400"/>
          </a:xfrm>
          <a:prstGeom prst="diamond">
            <a:avLst/>
          </a:prstGeom>
          <a:solidFill>
            <a:srgbClr val="007AA8"/>
          </a:solidFill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26000" cy="9144000"/>
          </a:xfrm>
          <a:prstGeom prst="rect">
            <a:avLst/>
          </a:prstGeom>
          <a:gradFill flip="none" rotWithShape="1">
            <a:gsLst>
              <a:gs pos="0">
                <a:srgbClr val="004060"/>
              </a:gs>
              <a:gs pos="100000">
                <a:srgbClr val="005C82"/>
              </a:gs>
            </a:gsLst>
            <a:lin ang="10800000" scaled="1"/>
          </a:gradFill>
        </p:spPr>
      </p:sp>
      <p:sp>
        <p:nvSpPr>
          <p:cNvPr id="3" name="Text 1"/>
          <p:cNvSpPr/>
          <p:nvPr/>
        </p:nvSpPr>
        <p:spPr>
          <a:xfrm>
            <a:off x="0" y="4826000"/>
            <a:ext cx="4826000" cy="203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>
                    <a:alpha val="313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381000"/>
            <a:ext cx="508000" cy="508000"/>
          </a:xfrm>
          <a:prstGeom prst="ellipse">
            <a:avLst/>
          </a:prstGeom>
          <a:solidFill>
            <a:srgbClr val="FFFFFF">
              <a:alpha val="12549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1000" y="3556000"/>
            <a:ext cx="4064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目录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4394200"/>
            <a:ext cx="4064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300" dirty="0">
                <a:solidFill>
                  <a:srgbClr val="00ACC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3454400"/>
            <a:ext cx="1016000" cy="25400"/>
          </a:xfrm>
          <a:prstGeom prst="rect">
            <a:avLst/>
          </a:prstGeom>
          <a:solidFill>
            <a:srgbClr val="00ACC1"/>
          </a:solidFill>
        </p:spPr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257800" y="2825750"/>
            <a:ext cx="177800" cy="177800"/>
          </a:xfrm>
          <a:prstGeom prst="diamond">
            <a:avLst/>
          </a:prstGeom>
          <a:solidFill>
            <a:srgbClr val="005C82"/>
          </a:solidFill>
        </p:spPr>
      </p:sp>
      <p:sp>
        <p:nvSpPr>
          <p:cNvPr id="9" name="Text 7"/>
          <p:cNvSpPr/>
          <p:nvPr>
            <p:custDataLst>
              <p:tags r:id="rId2"/>
            </p:custDataLst>
          </p:nvPr>
        </p:nvSpPr>
        <p:spPr>
          <a:xfrm>
            <a:off x="5588000" y="2698750"/>
            <a:ext cx="889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系统需求分析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5080000" y="3486150"/>
            <a:ext cx="10668000" cy="12700"/>
          </a:xfrm>
          <a:prstGeom prst="rect">
            <a:avLst/>
          </a:prstGeom>
          <a:solidFill>
            <a:srgbClr val="E0F4FA"/>
          </a:solidFill>
        </p:spPr>
      </p:sp>
      <p:sp>
        <p:nvSpPr>
          <p:cNvPr id="12" name="Shape 10"/>
          <p:cNvSpPr/>
          <p:nvPr>
            <p:custDataLst>
              <p:tags r:id="rId3"/>
            </p:custDataLst>
          </p:nvPr>
        </p:nvSpPr>
        <p:spPr>
          <a:xfrm>
            <a:off x="5257800" y="4197350"/>
            <a:ext cx="177800" cy="177800"/>
          </a:xfrm>
          <a:prstGeom prst="diamond">
            <a:avLst/>
          </a:prstGeom>
          <a:solidFill>
            <a:srgbClr val="005C82"/>
          </a:solidFill>
        </p:spPr>
      </p:sp>
      <p:sp>
        <p:nvSpPr>
          <p:cNvPr id="13" name="Text 11"/>
          <p:cNvSpPr/>
          <p:nvPr>
            <p:custDataLst>
              <p:tags r:id="rId4"/>
            </p:custDataLst>
          </p:nvPr>
        </p:nvSpPr>
        <p:spPr>
          <a:xfrm>
            <a:off x="5588000" y="4070350"/>
            <a:ext cx="889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概念模型与设计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080000" y="4857750"/>
            <a:ext cx="10668000" cy="12700"/>
          </a:xfrm>
          <a:prstGeom prst="rect">
            <a:avLst/>
          </a:prstGeom>
          <a:solidFill>
            <a:srgbClr val="E0F4FA"/>
          </a:solidFill>
        </p:spPr>
      </p:sp>
      <p:sp>
        <p:nvSpPr>
          <p:cNvPr id="16" name="Shape 14"/>
          <p:cNvSpPr/>
          <p:nvPr>
            <p:custDataLst>
              <p:tags r:id="rId5"/>
            </p:custDataLst>
          </p:nvPr>
        </p:nvSpPr>
        <p:spPr>
          <a:xfrm>
            <a:off x="5257800" y="5568950"/>
            <a:ext cx="177800" cy="177800"/>
          </a:xfrm>
          <a:prstGeom prst="diamond">
            <a:avLst/>
          </a:prstGeom>
          <a:solidFill>
            <a:srgbClr val="005C82"/>
          </a:solidFill>
        </p:spPr>
      </p:sp>
      <p:sp>
        <p:nvSpPr>
          <p:cNvPr id="17" name="Text 15"/>
          <p:cNvSpPr/>
          <p:nvPr>
            <p:custDataLst>
              <p:tags r:id="rId6"/>
            </p:custDataLst>
          </p:nvPr>
        </p:nvSpPr>
        <p:spPr>
          <a:xfrm>
            <a:off x="5588000" y="5441950"/>
            <a:ext cx="889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数据库实现与功能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000" y="1778000"/>
            <a:ext cx="4826000" cy="4826000"/>
          </a:xfrm>
          <a:prstGeom prst="rect">
            <a:avLst/>
          </a:prstGeom>
          <a:solidFill>
            <a:srgbClr val="005C82">
              <a:alpha val="3922"/>
            </a:srgbClr>
          </a:solidFill>
          <a:ln w="12700">
            <a:solidFill>
              <a:srgbClr val="005C82">
                <a:alpha val="18824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40000" y="2286000"/>
            <a:ext cx="3810000" cy="3810000"/>
          </a:xfrm>
          <a:prstGeom prst="rect">
            <a:avLst/>
          </a:prstGeom>
          <a:solidFill>
            <a:srgbClr val="005C82">
              <a:alpha val="3922"/>
            </a:srgbClr>
          </a:solidFill>
          <a:ln w="25400">
            <a:solidFill>
              <a:srgbClr val="005C82">
                <a:alpha val="31373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8000" y="2794000"/>
            <a:ext cx="2794000" cy="279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C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48000" y="2794000"/>
            <a:ext cx="2794000" cy="279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0" y="2794000"/>
            <a:ext cx="12700" cy="2794000"/>
          </a:xfrm>
          <a:prstGeom prst="rect">
            <a:avLst/>
          </a:prstGeom>
          <a:solidFill>
            <a:srgbClr val="B0BEC5"/>
          </a:solidFill>
        </p:spPr>
      </p:sp>
      <p:sp>
        <p:nvSpPr>
          <p:cNvPr id="7" name="Text 5"/>
          <p:cNvSpPr/>
          <p:nvPr/>
        </p:nvSpPr>
        <p:spPr>
          <a:xfrm>
            <a:off x="8128000" y="2921000"/>
            <a:ext cx="7112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400" dirty="0">
                <a:solidFill>
                  <a:srgbClr val="00ACC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0" y="3403600"/>
            <a:ext cx="736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系统需求分析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0" y="4419600"/>
            <a:ext cx="736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B0BEC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System Requirements Analysis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128000" y="5029200"/>
            <a:ext cx="2540000" cy="25400"/>
          </a:xfrm>
          <a:prstGeom prst="rect">
            <a:avLst/>
          </a:prstGeom>
          <a:solidFill>
            <a:srgbClr val="00ACC1"/>
          </a:solidFill>
        </p:spPr>
      </p:sp>
      <p:sp>
        <p:nvSpPr>
          <p:cNvPr id="11" name="Text 9"/>
          <p:cNvSpPr/>
          <p:nvPr/>
        </p:nvSpPr>
        <p:spPr>
          <a:xfrm>
            <a:off x="8128000" y="5283200"/>
            <a:ext cx="736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1.1　系统实体与属性定义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128000" y="5740400"/>
            <a:ext cx="736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1.2　实体联系关系与业务流程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9144000"/>
          </a:xfrm>
          <a:prstGeom prst="rect">
            <a:avLst/>
          </a:prstGeom>
          <a:solidFill>
            <a:srgbClr val="004060"/>
          </a:solidFill>
        </p:spPr>
      </p:sp>
      <p:sp>
        <p:nvSpPr>
          <p:cNvPr id="3" name="Shape 1"/>
          <p:cNvSpPr/>
          <p:nvPr/>
        </p:nvSpPr>
        <p:spPr>
          <a:xfrm>
            <a:off x="177800" y="177800"/>
            <a:ext cx="457200" cy="457200"/>
          </a:xfrm>
          <a:prstGeom prst="ellipse">
            <a:avLst/>
          </a:prstGeom>
          <a:solidFill>
            <a:srgbClr val="FFFFFF">
              <a:alpha val="12549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6000"/>
            <a:ext cx="2286000" cy="1168400"/>
          </a:xfrm>
          <a:prstGeom prst="rect">
            <a:avLst/>
          </a:prstGeom>
          <a:solidFill>
            <a:srgbClr val="005C82"/>
          </a:solidFill>
        </p:spPr>
      </p:sp>
      <p:sp>
        <p:nvSpPr>
          <p:cNvPr id="5" name="Text 3"/>
          <p:cNvSpPr/>
          <p:nvPr/>
        </p:nvSpPr>
        <p:spPr>
          <a:xfrm>
            <a:off x="101600" y="10160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 需求分析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1600" y="33528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 概念模型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1600" y="56896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 实现与功能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66800" y="7493000"/>
            <a:ext cx="152400" cy="152400"/>
          </a:xfrm>
          <a:prstGeom prst="diamond">
            <a:avLst/>
          </a:prstGeom>
          <a:solidFill>
            <a:srgbClr val="00ACC1"/>
          </a:solidFill>
        </p:spPr>
      </p:sp>
      <p:sp>
        <p:nvSpPr>
          <p:cNvPr id="9" name="Shape 7"/>
          <p:cNvSpPr/>
          <p:nvPr/>
        </p:nvSpPr>
        <p:spPr>
          <a:xfrm>
            <a:off x="2286000" y="0"/>
            <a:ext cx="13970000" cy="635000"/>
          </a:xfrm>
          <a:prstGeom prst="rect">
            <a:avLst/>
          </a:prstGeom>
          <a:solidFill>
            <a:srgbClr val="E0F4FA"/>
          </a:solidFill>
        </p:spPr>
      </p:sp>
      <p:sp>
        <p:nvSpPr>
          <p:cNvPr id="10" name="Text 8"/>
          <p:cNvSpPr/>
          <p:nvPr/>
        </p:nvSpPr>
        <p:spPr>
          <a:xfrm>
            <a:off x="2540000" y="0"/>
            <a:ext cx="12827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 系统需求分析</a:t>
            </a:r>
            <a:r>
              <a:rPr lang="en-US" sz="2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　›　1.1 系统概述与核心实体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621000" y="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40000" y="863600"/>
            <a:ext cx="1320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系统概述与核心实体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540000" y="1397000"/>
            <a:ext cx="13208000" cy="12700"/>
          </a:xfrm>
          <a:prstGeom prst="rect">
            <a:avLst/>
          </a:prstGeom>
          <a:solidFill>
            <a:srgbClr val="B0BEC5"/>
          </a:solidFill>
        </p:spPr>
      </p:sp>
      <p:sp>
        <p:nvSpPr>
          <p:cNvPr id="14" name="Text 12"/>
          <p:cNvSpPr/>
          <p:nvPr/>
        </p:nvSpPr>
        <p:spPr>
          <a:xfrm>
            <a:off x="2540000" y="1574800"/>
            <a:ext cx="13208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本系统面向</a:t>
            </a:r>
            <a:r>
              <a:rPr lang="en-US" sz="2000" b="1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高校教学管理场景</a:t>
            </a:r>
            <a:r>
              <a:rPr lang="en-US" sz="20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，统一管理学生、院系、专业、课程、教师及成绩信息，实现数据录入、修改、查询与统计分析功能。系统目标是建立满足</a:t>
            </a:r>
            <a:r>
              <a:rPr lang="en-US" sz="2000" b="1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第三范式（3NF）</a:t>
            </a:r>
            <a:r>
              <a:rPr lang="en-US" sz="20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的关系型数据库，减少数据冗余，提高管理效率。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40000" y="26924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核心实体（6个）</a:t>
            </a:r>
            <a:endParaRPr lang="en-US" sz="2400" dirty="0"/>
          </a:p>
        </p:txBody>
      </p:sp>
      <p:sp>
        <p:nvSpPr>
          <p:cNvPr id="16" name="Shape 14"/>
          <p:cNvSpPr/>
          <p:nvPr>
            <p:custDataLst>
              <p:tags r:id="rId1"/>
            </p:custDataLst>
          </p:nvPr>
        </p:nvSpPr>
        <p:spPr>
          <a:xfrm>
            <a:off x="2540000" y="3149600"/>
            <a:ext cx="2032000" cy="1270000"/>
          </a:xfrm>
          <a:prstGeom prst="roundRect">
            <a:avLst>
              <a:gd name="adj" fmla="val 4000"/>
            </a:avLst>
          </a:prstGeom>
          <a:solidFill>
            <a:srgbClr val="005C82"/>
          </a:solidFill>
        </p:spPr>
      </p:sp>
      <p:sp>
        <p:nvSpPr>
          <p:cNvPr id="17" name="Text 15"/>
          <p:cNvSpPr/>
          <p:nvPr>
            <p:custDataLst>
              <p:tags r:id="rId2"/>
            </p:custDataLst>
          </p:nvPr>
        </p:nvSpPr>
        <p:spPr>
          <a:xfrm>
            <a:off x="2540000" y="3276600"/>
            <a:ext cx="203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Student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8" name="Text 16"/>
          <p:cNvSpPr/>
          <p:nvPr>
            <p:custDataLst>
              <p:tags r:id="rId3"/>
            </p:custDataLst>
          </p:nvPr>
        </p:nvSpPr>
        <p:spPr>
          <a:xfrm>
            <a:off x="2540000" y="3810000"/>
            <a:ext cx="2032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E0F4F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学生</a:t>
            </a:r>
            <a:endParaRPr lang="en-US" sz="2400" dirty="0"/>
          </a:p>
        </p:txBody>
      </p:sp>
      <p:sp>
        <p:nvSpPr>
          <p:cNvPr id="19" name="Shape 17"/>
          <p:cNvSpPr/>
          <p:nvPr>
            <p:custDataLst>
              <p:tags r:id="rId4"/>
            </p:custDataLst>
          </p:nvPr>
        </p:nvSpPr>
        <p:spPr>
          <a:xfrm>
            <a:off x="4775200" y="3149600"/>
            <a:ext cx="2032000" cy="1270000"/>
          </a:xfrm>
          <a:prstGeom prst="roundRect">
            <a:avLst>
              <a:gd name="adj" fmla="val 4000"/>
            </a:avLst>
          </a:prstGeom>
          <a:solidFill>
            <a:srgbClr val="007AA8"/>
          </a:solidFill>
        </p:spPr>
      </p:sp>
      <p:sp>
        <p:nvSpPr>
          <p:cNvPr id="20" name="Text 18"/>
          <p:cNvSpPr/>
          <p:nvPr>
            <p:custDataLst>
              <p:tags r:id="rId5"/>
            </p:custDataLst>
          </p:nvPr>
        </p:nvSpPr>
        <p:spPr>
          <a:xfrm>
            <a:off x="4775200" y="3276600"/>
            <a:ext cx="203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Department</a:t>
            </a:r>
            <a:endParaRPr lang="en-US" sz="2400" b="1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1" name="Text 19"/>
          <p:cNvSpPr/>
          <p:nvPr>
            <p:custDataLst>
              <p:tags r:id="rId6"/>
            </p:custDataLst>
          </p:nvPr>
        </p:nvSpPr>
        <p:spPr>
          <a:xfrm>
            <a:off x="4775200" y="3810000"/>
            <a:ext cx="2032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E0F4F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院系</a:t>
            </a:r>
            <a:endParaRPr lang="en-US" sz="2400" dirty="0"/>
          </a:p>
        </p:txBody>
      </p:sp>
      <p:sp>
        <p:nvSpPr>
          <p:cNvPr id="22" name="Shape 20"/>
          <p:cNvSpPr/>
          <p:nvPr>
            <p:custDataLst>
              <p:tags r:id="rId7"/>
            </p:custDataLst>
          </p:nvPr>
        </p:nvSpPr>
        <p:spPr>
          <a:xfrm>
            <a:off x="7010400" y="3149600"/>
            <a:ext cx="2032000" cy="1270000"/>
          </a:xfrm>
          <a:prstGeom prst="roundRect">
            <a:avLst>
              <a:gd name="adj" fmla="val 4000"/>
            </a:avLst>
          </a:prstGeom>
          <a:solidFill>
            <a:srgbClr val="00ACC1"/>
          </a:solidFill>
        </p:spPr>
      </p:sp>
      <p:sp>
        <p:nvSpPr>
          <p:cNvPr id="23" name="Text 21"/>
          <p:cNvSpPr/>
          <p:nvPr>
            <p:custDataLst>
              <p:tags r:id="rId8"/>
            </p:custDataLst>
          </p:nvPr>
        </p:nvSpPr>
        <p:spPr>
          <a:xfrm>
            <a:off x="7010400" y="3276600"/>
            <a:ext cx="203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Major</a:t>
            </a:r>
            <a:endParaRPr lang="en-US" sz="2400" dirty="0"/>
          </a:p>
        </p:txBody>
      </p:sp>
      <p:sp>
        <p:nvSpPr>
          <p:cNvPr id="24" name="Text 22"/>
          <p:cNvSpPr/>
          <p:nvPr>
            <p:custDataLst>
              <p:tags r:id="rId9"/>
            </p:custDataLst>
          </p:nvPr>
        </p:nvSpPr>
        <p:spPr>
          <a:xfrm>
            <a:off x="7010400" y="3810000"/>
            <a:ext cx="2032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E0F4F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专业</a:t>
            </a:r>
            <a:endParaRPr lang="en-US" sz="2400" dirty="0"/>
          </a:p>
        </p:txBody>
      </p:sp>
      <p:sp>
        <p:nvSpPr>
          <p:cNvPr id="25" name="Shape 23"/>
          <p:cNvSpPr/>
          <p:nvPr>
            <p:custDataLst>
              <p:tags r:id="rId10"/>
            </p:custDataLst>
          </p:nvPr>
        </p:nvSpPr>
        <p:spPr>
          <a:xfrm>
            <a:off x="9245600" y="3149600"/>
            <a:ext cx="2032000" cy="1270000"/>
          </a:xfrm>
          <a:prstGeom prst="roundRect">
            <a:avLst>
              <a:gd name="adj" fmla="val 4000"/>
            </a:avLst>
          </a:prstGeom>
          <a:solidFill>
            <a:srgbClr val="005C82"/>
          </a:solidFill>
        </p:spPr>
      </p:sp>
      <p:sp>
        <p:nvSpPr>
          <p:cNvPr id="26" name="Text 24"/>
          <p:cNvSpPr/>
          <p:nvPr>
            <p:custDataLst>
              <p:tags r:id="rId11"/>
            </p:custDataLst>
          </p:nvPr>
        </p:nvSpPr>
        <p:spPr>
          <a:xfrm>
            <a:off x="9245600" y="3276600"/>
            <a:ext cx="203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Course</a:t>
            </a:r>
            <a:endParaRPr lang="en-US" sz="2400" dirty="0"/>
          </a:p>
        </p:txBody>
      </p:sp>
      <p:sp>
        <p:nvSpPr>
          <p:cNvPr id="27" name="Text 25"/>
          <p:cNvSpPr/>
          <p:nvPr>
            <p:custDataLst>
              <p:tags r:id="rId12"/>
            </p:custDataLst>
          </p:nvPr>
        </p:nvSpPr>
        <p:spPr>
          <a:xfrm>
            <a:off x="9245600" y="3810000"/>
            <a:ext cx="2032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E0F4F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课程</a:t>
            </a:r>
            <a:endParaRPr lang="en-US" sz="2400" dirty="0">
              <a:solidFill>
                <a:srgbClr val="E0F4FA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8" name="Shape 26"/>
          <p:cNvSpPr/>
          <p:nvPr>
            <p:custDataLst>
              <p:tags r:id="rId13"/>
            </p:custDataLst>
          </p:nvPr>
        </p:nvSpPr>
        <p:spPr>
          <a:xfrm>
            <a:off x="11480800" y="3149600"/>
            <a:ext cx="2032000" cy="1270000"/>
          </a:xfrm>
          <a:prstGeom prst="roundRect">
            <a:avLst>
              <a:gd name="adj" fmla="val 4000"/>
            </a:avLst>
          </a:prstGeom>
          <a:solidFill>
            <a:srgbClr val="007AA8"/>
          </a:solidFill>
        </p:spPr>
      </p:sp>
      <p:sp>
        <p:nvSpPr>
          <p:cNvPr id="29" name="Text 27"/>
          <p:cNvSpPr/>
          <p:nvPr>
            <p:custDataLst>
              <p:tags r:id="rId14"/>
            </p:custDataLst>
          </p:nvPr>
        </p:nvSpPr>
        <p:spPr>
          <a:xfrm>
            <a:off x="11480800" y="3276600"/>
            <a:ext cx="203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Teacher</a:t>
            </a:r>
            <a:endParaRPr lang="en-US" sz="2400" dirty="0"/>
          </a:p>
        </p:txBody>
      </p:sp>
      <p:sp>
        <p:nvSpPr>
          <p:cNvPr id="30" name="Text 28"/>
          <p:cNvSpPr/>
          <p:nvPr>
            <p:custDataLst>
              <p:tags r:id="rId15"/>
            </p:custDataLst>
          </p:nvPr>
        </p:nvSpPr>
        <p:spPr>
          <a:xfrm>
            <a:off x="11480800" y="3810000"/>
            <a:ext cx="2032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E0F4F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教师</a:t>
            </a:r>
            <a:endParaRPr lang="en-US" sz="2400" dirty="0"/>
          </a:p>
        </p:txBody>
      </p:sp>
      <p:sp>
        <p:nvSpPr>
          <p:cNvPr id="31" name="Shape 29"/>
          <p:cNvSpPr/>
          <p:nvPr>
            <p:custDataLst>
              <p:tags r:id="rId16"/>
            </p:custDataLst>
          </p:nvPr>
        </p:nvSpPr>
        <p:spPr>
          <a:xfrm>
            <a:off x="13716000" y="3149600"/>
            <a:ext cx="2032000" cy="1270000"/>
          </a:xfrm>
          <a:prstGeom prst="roundRect">
            <a:avLst>
              <a:gd name="adj" fmla="val 4000"/>
            </a:avLst>
          </a:prstGeom>
          <a:solidFill>
            <a:srgbClr val="00ACC1"/>
          </a:solidFill>
        </p:spPr>
      </p:sp>
      <p:sp>
        <p:nvSpPr>
          <p:cNvPr id="32" name="Text 30"/>
          <p:cNvSpPr/>
          <p:nvPr>
            <p:custDataLst>
              <p:tags r:id="rId17"/>
            </p:custDataLst>
          </p:nvPr>
        </p:nvSpPr>
        <p:spPr>
          <a:xfrm>
            <a:off x="13716000" y="3276600"/>
            <a:ext cx="203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Grade</a:t>
            </a:r>
            <a:endParaRPr lang="en-US" sz="2400" dirty="0"/>
          </a:p>
        </p:txBody>
      </p:sp>
      <p:sp>
        <p:nvSpPr>
          <p:cNvPr id="33" name="Text 31"/>
          <p:cNvSpPr/>
          <p:nvPr>
            <p:custDataLst>
              <p:tags r:id="rId18"/>
            </p:custDataLst>
          </p:nvPr>
        </p:nvSpPr>
        <p:spPr>
          <a:xfrm>
            <a:off x="13716000" y="3810000"/>
            <a:ext cx="2032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E0F4F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成绩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2540000" y="46482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联系表（2个，解决多对多关系）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2540000" y="5105400"/>
            <a:ext cx="6350000" cy="1016000"/>
          </a:xfrm>
          <a:prstGeom prst="roundRect">
            <a:avLst>
              <a:gd name="adj" fmla="val 4000"/>
            </a:avLst>
          </a:prstGeom>
          <a:solidFill>
            <a:srgbClr val="E0F4FA"/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94000" y="5207000"/>
            <a:ext cx="5842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Student_Course 学生选课表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794000" y="5588000"/>
            <a:ext cx="584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关联学生与课程，记录选课状态（已选/退课/已完成）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9144000" y="5105400"/>
            <a:ext cx="6604000" cy="1016000"/>
          </a:xfrm>
          <a:prstGeom prst="roundRect">
            <a:avLst>
              <a:gd name="adj" fmla="val 4000"/>
            </a:avLst>
          </a:prstGeom>
          <a:solidFill>
            <a:srgbClr val="E0F4FA"/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98000" y="5207000"/>
            <a:ext cx="609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Teacher_Course 教师授课表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398000" y="5588000"/>
            <a:ext cx="609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关联教师与课程，记录授课角色（主讲/助教/合上）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2540000" y="63500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系统用户角色</a:t>
            </a:r>
            <a:endParaRPr lang="en-US" sz="24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/>
        </p:nvGraphicFramePr>
        <p:xfrm>
          <a:off x="2540000" y="6807200"/>
          <a:ext cx="13208000" cy="1524000"/>
        </p:xfrm>
        <a:graphic>
          <a:graphicData uri="http://schemas.openxmlformats.org/drawingml/2006/table">
            <a:tbl>
              <a:tblPr/>
              <a:tblGrid>
                <a:gridCol w="2641600"/>
                <a:gridCol w="105664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用户角色</a:t>
                      </a:r>
                      <a:endParaRPr lang="en-US" sz="20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主要职责</a:t>
                      </a:r>
                      <a:endParaRPr lang="en-US" sz="20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管理员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维护院系、专业、课程、教师、学生等基础数据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教师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查看授课课程，录入和修改学生成绩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学生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查询个人信息、选课信息、课程成绩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9144000"/>
          </a:xfrm>
          <a:prstGeom prst="rect">
            <a:avLst/>
          </a:prstGeom>
          <a:solidFill>
            <a:srgbClr val="004060"/>
          </a:solidFill>
        </p:spPr>
      </p:sp>
      <p:sp>
        <p:nvSpPr>
          <p:cNvPr id="3" name="Shape 1"/>
          <p:cNvSpPr/>
          <p:nvPr/>
        </p:nvSpPr>
        <p:spPr>
          <a:xfrm>
            <a:off x="177800" y="177800"/>
            <a:ext cx="457200" cy="457200"/>
          </a:xfrm>
          <a:prstGeom prst="ellipse">
            <a:avLst/>
          </a:prstGeom>
          <a:solidFill>
            <a:srgbClr val="FFFFFF">
              <a:alpha val="12549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6000"/>
            <a:ext cx="2286000" cy="1168400"/>
          </a:xfrm>
          <a:prstGeom prst="rect">
            <a:avLst/>
          </a:prstGeom>
          <a:solidFill>
            <a:srgbClr val="005C82"/>
          </a:solidFill>
        </p:spPr>
      </p:sp>
      <p:sp>
        <p:nvSpPr>
          <p:cNvPr id="5" name="Text 3"/>
          <p:cNvSpPr/>
          <p:nvPr/>
        </p:nvSpPr>
        <p:spPr>
          <a:xfrm>
            <a:off x="101600" y="10160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 需求分析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1600" y="33528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 概念模型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1600" y="56896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 实现与功能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66800" y="7493000"/>
            <a:ext cx="152400" cy="152400"/>
          </a:xfrm>
          <a:prstGeom prst="diamond">
            <a:avLst/>
          </a:prstGeom>
          <a:solidFill>
            <a:srgbClr val="00ACC1"/>
          </a:solidFill>
        </p:spPr>
      </p:sp>
      <p:sp>
        <p:nvSpPr>
          <p:cNvPr id="9" name="Shape 7"/>
          <p:cNvSpPr/>
          <p:nvPr/>
        </p:nvSpPr>
        <p:spPr>
          <a:xfrm>
            <a:off x="2286000" y="0"/>
            <a:ext cx="13970000" cy="635000"/>
          </a:xfrm>
          <a:prstGeom prst="rect">
            <a:avLst/>
          </a:prstGeom>
          <a:solidFill>
            <a:srgbClr val="E0F4FA"/>
          </a:solidFill>
        </p:spPr>
      </p:sp>
      <p:sp>
        <p:nvSpPr>
          <p:cNvPr id="10" name="Text 8"/>
          <p:cNvSpPr/>
          <p:nvPr/>
        </p:nvSpPr>
        <p:spPr>
          <a:xfrm>
            <a:off x="2540000" y="0"/>
            <a:ext cx="12827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 系统需求分析</a:t>
            </a:r>
            <a:r>
              <a:rPr lang="en-US" sz="2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　›　1.1 系统实体属性定义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621000" y="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40000" y="863600"/>
            <a:ext cx="1320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系统实体属性定义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540000" y="1397000"/>
            <a:ext cx="13208000" cy="12700"/>
          </a:xfrm>
          <a:prstGeom prst="rect">
            <a:avLst/>
          </a:prstGeom>
          <a:solidFill>
            <a:srgbClr val="B0BEC5"/>
          </a:solidFill>
        </p:spPr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2540000" y="1574800"/>
          <a:ext cx="13208000" cy="7434580"/>
        </p:xfrm>
        <a:graphic>
          <a:graphicData uri="http://schemas.openxmlformats.org/drawingml/2006/table">
            <a:tbl>
              <a:tblPr/>
              <a:tblGrid>
                <a:gridCol w="1849120"/>
                <a:gridCol w="2641600"/>
                <a:gridCol w="4754880"/>
                <a:gridCol w="3962400"/>
              </a:tblGrid>
              <a:tr h="655955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实体</a:t>
                      </a:r>
                      <a:endParaRPr lang="en-US" sz="24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主键</a:t>
                      </a:r>
                      <a:endParaRPr lang="en-US" sz="24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属性</a:t>
                      </a:r>
                      <a:endParaRPr lang="en-US" sz="24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主要约束</a:t>
                      </a:r>
                      <a:endParaRPr lang="en-US" sz="24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</a:tr>
              <a:tr h="115506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Student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student_id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student_no, name, id_card, gender, </a:t>
                      </a:r>
                      <a:r>
                        <a:rPr lang="en-US" altLang="zh-CN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birth_date</a:t>
                      </a:r>
                      <a:r>
                        <a:rPr lang="zh-CN" alt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，</a:t>
                      </a:r>
                      <a:r>
                        <a:rPr lang="en-US" altLang="zh-CN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dormitory</a:t>
                      </a:r>
                      <a:r>
                        <a:rPr lang="zh-CN" alt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，</a:t>
                      </a:r>
                      <a:r>
                        <a:rPr lang="en-US" altLang="zh-CN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home_address</a:t>
                      </a:r>
                      <a:r>
                        <a:rPr lang="zh-CN" alt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，</a:t>
                      </a:r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grade_year, major_id</a:t>
                      </a:r>
                      <a:r>
                        <a:rPr lang="zh-CN" alt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，</a:t>
                      </a:r>
                      <a:r>
                        <a:rPr lang="en-US" altLang="zh-CN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minor_id</a:t>
                      </a:r>
                      <a:r>
                        <a:rPr lang="zh-CN" alt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，</a:t>
                      </a:r>
                      <a:r>
                        <a:rPr lang="en-US" altLang="zh-CN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degree_level</a:t>
                      </a:r>
                      <a:r>
                        <a:rPr lang="zh-CN" alt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，</a:t>
                      </a:r>
                      <a:r>
                        <a:rPr lang="en-US" altLang="zh-CN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completed_credits</a:t>
                      </a:r>
                      <a:endParaRPr lang="en-US" altLang="zh-CN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学号/身份证 UNIQUE，性别∈{男,女}，已修学分≥0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662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Department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department_id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department_code, department_name, office_location</a:t>
                      </a:r>
                      <a:r>
                        <a:rPr lang="zh-CN" alt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，</a:t>
                      </a:r>
                      <a:r>
                        <a:rPr lang="en-US" altLang="zh-CN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phone</a:t>
                      </a:r>
                      <a:endParaRPr lang="en-US" altLang="zh-CN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院系代码/名称 UNIQUE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  <a:tr h="93789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Major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major_id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major_name, department_id, </a:t>
                      </a:r>
                      <a:r>
                        <a:rPr lang="en-US" altLang="zh-CN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bachelor_credit_req</a:t>
                      </a:r>
                      <a:r>
                        <a:rPr lang="zh-CN" alt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，</a:t>
                      </a:r>
                      <a:r>
                        <a:rPr lang="en-US" altLang="zh-CN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master_credit_req</a:t>
                      </a:r>
                      <a:r>
                        <a:rPr lang="zh-CN" alt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，</a:t>
                      </a:r>
                      <a:r>
                        <a:rPr lang="en-US" altLang="zh-CN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doctor_credit_req</a:t>
                      </a:r>
                      <a:endParaRPr lang="en-US" altLang="zh-CN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department_id FK，学分要求≥0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789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Course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course_id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course_code, course_name, class_hours, credits</a:t>
                      </a:r>
                      <a:r>
                        <a:rPr lang="zh-CN" alt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，</a:t>
                      </a:r>
                      <a:r>
                        <a:rPr lang="en-US" altLang="zh-CN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degree_level</a:t>
                      </a:r>
                      <a:r>
                        <a:rPr lang="zh-CN" alt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，</a:t>
                      </a:r>
                      <a:r>
                        <a:rPr lang="en-US" altLang="zh-CN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department_id</a:t>
                      </a:r>
                      <a:endParaRPr lang="en-US" altLang="zh-CN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课程代码 UNIQUE，学时&gt;0，学分&gt;0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  <a:tr h="93662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Teacher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teacher_id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teacher_no, name, department_id, title</a:t>
                      </a:r>
                      <a:r>
                        <a:rPr lang="zh-CN" alt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，</a:t>
                      </a:r>
                      <a:r>
                        <a:rPr lang="en-US" altLang="zh-CN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phone</a:t>
                      </a:r>
                      <a:endParaRPr lang="en-US" altLang="zh-CN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教师工号 UNIQUE，department_id FK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Grade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grade_id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student_id, course_id, semester, score, </a:t>
                      </a:r>
                      <a:r>
                        <a:rPr lang="en-US" altLang="zh-CN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exam_type</a:t>
                      </a:r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,</a:t>
                      </a:r>
                      <a:r>
                        <a:rPr lang="en-US" altLang="zh-CN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record_time</a:t>
                      </a:r>
                      <a:endParaRPr lang="en-US" altLang="zh-CN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student_id/course_id FK，分数0-100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  <a:tr h="93726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User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user_id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username, password_hash, role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用户名 UNIQUE，角色∈{管理员,教师,学生}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9144000"/>
          </a:xfrm>
          <a:prstGeom prst="rect">
            <a:avLst/>
          </a:prstGeom>
          <a:solidFill>
            <a:srgbClr val="004060"/>
          </a:solidFill>
        </p:spPr>
      </p:sp>
      <p:sp>
        <p:nvSpPr>
          <p:cNvPr id="3" name="Shape 1"/>
          <p:cNvSpPr/>
          <p:nvPr/>
        </p:nvSpPr>
        <p:spPr>
          <a:xfrm>
            <a:off x="177800" y="177800"/>
            <a:ext cx="457200" cy="457200"/>
          </a:xfrm>
          <a:prstGeom prst="ellipse">
            <a:avLst/>
          </a:prstGeom>
          <a:solidFill>
            <a:srgbClr val="FFFFFF">
              <a:alpha val="12549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6000"/>
            <a:ext cx="2286000" cy="1168400"/>
          </a:xfrm>
          <a:prstGeom prst="rect">
            <a:avLst/>
          </a:prstGeom>
          <a:solidFill>
            <a:srgbClr val="005C82"/>
          </a:solidFill>
        </p:spPr>
      </p:sp>
      <p:sp>
        <p:nvSpPr>
          <p:cNvPr id="5" name="Text 3"/>
          <p:cNvSpPr/>
          <p:nvPr/>
        </p:nvSpPr>
        <p:spPr>
          <a:xfrm>
            <a:off x="101600" y="10160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 需求分析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1600" y="33528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 概念模型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1600" y="56896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 实现与功能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66800" y="7493000"/>
            <a:ext cx="152400" cy="152400"/>
          </a:xfrm>
          <a:prstGeom prst="diamond">
            <a:avLst/>
          </a:prstGeom>
          <a:solidFill>
            <a:srgbClr val="00ACC1"/>
          </a:solidFill>
        </p:spPr>
      </p:sp>
      <p:sp>
        <p:nvSpPr>
          <p:cNvPr id="9" name="Shape 7"/>
          <p:cNvSpPr/>
          <p:nvPr/>
        </p:nvSpPr>
        <p:spPr>
          <a:xfrm>
            <a:off x="2286000" y="0"/>
            <a:ext cx="13970000" cy="635000"/>
          </a:xfrm>
          <a:prstGeom prst="rect">
            <a:avLst/>
          </a:prstGeom>
          <a:solidFill>
            <a:srgbClr val="E0F4FA"/>
          </a:solidFill>
        </p:spPr>
      </p:sp>
      <p:sp>
        <p:nvSpPr>
          <p:cNvPr id="10" name="Text 8"/>
          <p:cNvSpPr/>
          <p:nvPr/>
        </p:nvSpPr>
        <p:spPr>
          <a:xfrm>
            <a:off x="2540000" y="0"/>
            <a:ext cx="12827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 系统需求分析</a:t>
            </a:r>
            <a:r>
              <a:rPr lang="en-US" sz="2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　›　1.2 实体间联系关系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621000" y="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40000" y="863600"/>
            <a:ext cx="1320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实体间联系关系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540000" y="1397000"/>
            <a:ext cx="13208000" cy="12700"/>
          </a:xfrm>
          <a:prstGeom prst="rect">
            <a:avLst/>
          </a:prstGeom>
          <a:solidFill>
            <a:srgbClr val="B0BEC5"/>
          </a:solidFill>
        </p:spPr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2540000" y="1574800"/>
          <a:ext cx="13208000" cy="5100320"/>
        </p:xfrm>
        <a:graphic>
          <a:graphicData uri="http://schemas.openxmlformats.org/drawingml/2006/table">
            <a:tbl>
              <a:tblPr/>
              <a:tblGrid>
                <a:gridCol w="2905760"/>
                <a:gridCol w="2377440"/>
                <a:gridCol w="2905760"/>
                <a:gridCol w="5019040"/>
              </a:tblGrid>
              <a:tr h="574675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实体关系</a:t>
                      </a:r>
                      <a:endParaRPr lang="en-US" sz="20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关系类型</a:t>
                      </a:r>
                      <a:endParaRPr lang="en-US" sz="20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关联实体</a:t>
                      </a:r>
                      <a:endParaRPr lang="en-US" sz="20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</a:t>
                      </a:r>
                      <a:endParaRPr lang="en-US" sz="20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Department — Major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 : n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department_id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一个院系开设多个专业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  <a:tr h="643255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Major — Student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 : n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major_id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一个专业有多个学生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Department — Course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 : n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department_id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一个院系开设多门课程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Department — Teacher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 : n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department_id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一个院系有多名教师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3255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Teacher — Course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AC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 : m</a:t>
                      </a:r>
                      <a:endParaRPr lang="en-US" sz="2000" u="none" dirty="0">
                        <a:solidFill>
                          <a:srgbClr val="00AC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Teacher_Course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通过联系表实现，一门课可由多名教师授课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  <a:tr h="643255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Student — Course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0AC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 : m</a:t>
                      </a:r>
                      <a:endParaRPr lang="en-US" sz="2000" u="none" dirty="0">
                        <a:solidFill>
                          <a:srgbClr val="00AC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Student_Course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通过联系表实现，一个学生可选多门课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Student — Grade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 : n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student_id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一个学生有多条成绩记录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2540000" y="7112000"/>
            <a:ext cx="13208000" cy="1016000"/>
          </a:xfrm>
          <a:prstGeom prst="roundRect">
            <a:avLst>
              <a:gd name="adj" fmla="val 4000"/>
            </a:avLst>
          </a:prstGeom>
          <a:solidFill>
            <a:srgbClr val="E0F4FA"/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94000" y="7442200"/>
            <a:ext cx="177800" cy="177800"/>
          </a:xfrm>
          <a:prstGeom prst="diamond">
            <a:avLst/>
          </a:prstGeom>
          <a:solidFill>
            <a:srgbClr val="00ACC1"/>
          </a:solidFill>
        </p:spPr>
      </p:sp>
      <p:sp>
        <p:nvSpPr>
          <p:cNvPr id="17" name="Text 14"/>
          <p:cNvSpPr/>
          <p:nvPr/>
        </p:nvSpPr>
        <p:spPr>
          <a:xfrm>
            <a:off x="3098800" y="7239000"/>
            <a:ext cx="123952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键的选择：</a:t>
            </a:r>
            <a:r>
              <a:rPr lang="en-US" sz="20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所有1:n关系通过在n端添加外键实现；n:m关系通过独立联系表实现，联系表采用复合主键。Grade作为学生与课程间的联系实体，同时具有独立属性（分数等）。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9144000"/>
          </a:xfrm>
          <a:prstGeom prst="rect">
            <a:avLst/>
          </a:prstGeom>
          <a:solidFill>
            <a:srgbClr val="004060"/>
          </a:solidFill>
        </p:spPr>
      </p:sp>
      <p:sp>
        <p:nvSpPr>
          <p:cNvPr id="3" name="Shape 1"/>
          <p:cNvSpPr/>
          <p:nvPr/>
        </p:nvSpPr>
        <p:spPr>
          <a:xfrm>
            <a:off x="177800" y="177800"/>
            <a:ext cx="457200" cy="457200"/>
          </a:xfrm>
          <a:prstGeom prst="ellipse">
            <a:avLst/>
          </a:prstGeom>
          <a:solidFill>
            <a:srgbClr val="FFFFFF">
              <a:alpha val="12549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6000"/>
            <a:ext cx="2286000" cy="1168400"/>
          </a:xfrm>
          <a:prstGeom prst="rect">
            <a:avLst/>
          </a:prstGeom>
          <a:solidFill>
            <a:srgbClr val="005C82"/>
          </a:solidFill>
        </p:spPr>
      </p:sp>
      <p:sp>
        <p:nvSpPr>
          <p:cNvPr id="5" name="Text 3"/>
          <p:cNvSpPr/>
          <p:nvPr/>
        </p:nvSpPr>
        <p:spPr>
          <a:xfrm>
            <a:off x="101600" y="10160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 需求分析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1600" y="33528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 概念模型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1600" y="56896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 实现与功能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66800" y="7493000"/>
            <a:ext cx="152400" cy="152400"/>
          </a:xfrm>
          <a:prstGeom prst="diamond">
            <a:avLst/>
          </a:prstGeom>
          <a:solidFill>
            <a:srgbClr val="00ACC1"/>
          </a:solidFill>
        </p:spPr>
      </p:sp>
      <p:sp>
        <p:nvSpPr>
          <p:cNvPr id="9" name="Shape 7"/>
          <p:cNvSpPr/>
          <p:nvPr/>
        </p:nvSpPr>
        <p:spPr>
          <a:xfrm>
            <a:off x="2286000" y="0"/>
            <a:ext cx="13970000" cy="635000"/>
          </a:xfrm>
          <a:prstGeom prst="rect">
            <a:avLst/>
          </a:prstGeom>
          <a:solidFill>
            <a:srgbClr val="E0F4FA"/>
          </a:solidFill>
        </p:spPr>
      </p:sp>
      <p:sp>
        <p:nvSpPr>
          <p:cNvPr id="10" name="Text 8"/>
          <p:cNvSpPr/>
          <p:nvPr/>
        </p:nvSpPr>
        <p:spPr>
          <a:xfrm>
            <a:off x="2540000" y="0"/>
            <a:ext cx="12827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 系统需求分析</a:t>
            </a:r>
            <a:r>
              <a:rPr lang="en-US" sz="2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　›　1.2 主要业务流程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621000" y="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07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40000" y="863600"/>
            <a:ext cx="1320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主要业务流程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540000" y="1397000"/>
            <a:ext cx="13208000" cy="12700"/>
          </a:xfrm>
          <a:prstGeom prst="rect">
            <a:avLst/>
          </a:prstGeom>
          <a:solidFill>
            <a:srgbClr val="B0BEC5"/>
          </a:solidFill>
        </p:spPr>
      </p:sp>
      <p:sp>
        <p:nvSpPr>
          <p:cNvPr id="14" name="Shape 12"/>
          <p:cNvSpPr/>
          <p:nvPr/>
        </p:nvSpPr>
        <p:spPr>
          <a:xfrm>
            <a:off x="2540000" y="1625600"/>
            <a:ext cx="6350000" cy="1524000"/>
          </a:xfrm>
          <a:prstGeom prst="roundRect">
            <a:avLst>
              <a:gd name="adj" fmla="val 4000"/>
            </a:avLst>
          </a:prstGeom>
          <a:solidFill>
            <a:srgbClr val="E0F4FA"/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92400" y="1778000"/>
            <a:ext cx="457200" cy="457200"/>
          </a:xfrm>
          <a:prstGeom prst="ellipse">
            <a:avLst/>
          </a:prstGeom>
          <a:solidFill>
            <a:srgbClr val="005C82"/>
          </a:solidFill>
        </p:spPr>
      </p:sp>
      <p:sp>
        <p:nvSpPr>
          <p:cNvPr id="16" name="Text 14"/>
          <p:cNvSpPr/>
          <p:nvPr/>
        </p:nvSpPr>
        <p:spPr>
          <a:xfrm>
            <a:off x="2692400" y="1778000"/>
            <a:ext cx="457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76600" y="1752600"/>
            <a:ext cx="5461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基础信息维护流程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76600" y="2133600"/>
            <a:ext cx="5461000" cy="86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管理员登录 → 选择基础信息管理 → 新增/修改/删除/查询院系、专业、教师、课程、学生 → 系统校验 → 保存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0" y="1625600"/>
            <a:ext cx="6604000" cy="1524000"/>
          </a:xfrm>
          <a:prstGeom prst="roundRect">
            <a:avLst>
              <a:gd name="adj" fmla="val 4000"/>
            </a:avLst>
          </a:prstGeom>
          <a:solidFill>
            <a:srgbClr val="E0F4FA"/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96400" y="1778000"/>
            <a:ext cx="457200" cy="457200"/>
          </a:xfrm>
          <a:prstGeom prst="ellipse">
            <a:avLst/>
          </a:prstGeom>
          <a:solidFill>
            <a:srgbClr val="005C82"/>
          </a:solidFill>
        </p:spPr>
      </p:sp>
      <p:sp>
        <p:nvSpPr>
          <p:cNvPr id="21" name="Text 19"/>
          <p:cNvSpPr/>
          <p:nvPr/>
        </p:nvSpPr>
        <p:spPr>
          <a:xfrm>
            <a:off x="9296400" y="1778000"/>
            <a:ext cx="457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80600" y="1752600"/>
            <a:ext cx="5715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学生选课流程</a:t>
            </a:r>
            <a:endParaRPr lang="en-US" sz="2400" b="1" dirty="0">
              <a:solidFill>
                <a:srgbClr val="005C82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880600" y="2133600"/>
            <a:ext cx="5715000" cy="86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选择学生 → 查看可选课程 → 提交选课 → 检查是否重复 → 写入学生选课表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540000" y="3352800"/>
            <a:ext cx="6350000" cy="1524000"/>
          </a:xfrm>
          <a:prstGeom prst="roundRect">
            <a:avLst>
              <a:gd name="adj" fmla="val 4000"/>
            </a:avLst>
          </a:prstGeom>
          <a:solidFill>
            <a:srgbClr val="E0F4FA"/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2400" y="3505200"/>
            <a:ext cx="457200" cy="457200"/>
          </a:xfrm>
          <a:prstGeom prst="ellipse">
            <a:avLst/>
          </a:prstGeom>
          <a:solidFill>
            <a:srgbClr val="005C82"/>
          </a:solidFill>
        </p:spPr>
      </p:sp>
      <p:sp>
        <p:nvSpPr>
          <p:cNvPr id="26" name="Text 24"/>
          <p:cNvSpPr/>
          <p:nvPr/>
        </p:nvSpPr>
        <p:spPr>
          <a:xfrm>
            <a:off x="2692400" y="3505200"/>
            <a:ext cx="457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76600" y="3479800"/>
            <a:ext cx="5461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教师授课安排流程</a:t>
            </a:r>
            <a:endParaRPr lang="en-US" sz="2400" b="1" dirty="0">
              <a:solidFill>
                <a:srgbClr val="005C82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76600" y="3860800"/>
            <a:ext cx="5461000" cy="86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选择课程 → 选择教师 → 设置学期与授课角色 → 检查合法性 → 写入教师授课表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9144000" y="3352800"/>
            <a:ext cx="6604000" cy="1524000"/>
          </a:xfrm>
          <a:prstGeom prst="roundRect">
            <a:avLst>
              <a:gd name="adj" fmla="val 4000"/>
            </a:avLst>
          </a:prstGeom>
          <a:solidFill>
            <a:srgbClr val="E0F4FA"/>
          </a:solidFill>
          <a:ln w="12700">
            <a:solidFill>
              <a:srgbClr val="005C8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96400" y="3505200"/>
            <a:ext cx="457200" cy="457200"/>
          </a:xfrm>
          <a:prstGeom prst="ellipse">
            <a:avLst/>
          </a:prstGeom>
          <a:solidFill>
            <a:srgbClr val="005C82"/>
          </a:solidFill>
        </p:spPr>
      </p:sp>
      <p:sp>
        <p:nvSpPr>
          <p:cNvPr id="31" name="Text 29"/>
          <p:cNvSpPr/>
          <p:nvPr/>
        </p:nvSpPr>
        <p:spPr>
          <a:xfrm>
            <a:off x="9296400" y="3505200"/>
            <a:ext cx="457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80600" y="3479800"/>
            <a:ext cx="5715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成绩录入流程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880600" y="3860800"/>
            <a:ext cx="5715000" cy="86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教师登录 → 选择授课课程 → 查看学生名单 → 录入成绩 → 检查0-100范围 → 保存并更新学分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2540000" y="5080000"/>
            <a:ext cx="13208000" cy="1524000"/>
          </a:xfrm>
          <a:prstGeom prst="roundRect">
            <a:avLst>
              <a:gd name="adj" fmla="val 4000"/>
            </a:avLst>
          </a:prstGeom>
          <a:solidFill>
            <a:srgbClr val="004060"/>
          </a:solidFill>
        </p:spPr>
      </p:sp>
      <p:sp>
        <p:nvSpPr>
          <p:cNvPr id="35" name="Shape 33"/>
          <p:cNvSpPr/>
          <p:nvPr/>
        </p:nvSpPr>
        <p:spPr>
          <a:xfrm>
            <a:off x="2692400" y="5232400"/>
            <a:ext cx="457200" cy="457200"/>
          </a:xfrm>
          <a:prstGeom prst="ellipse">
            <a:avLst/>
          </a:prstGeom>
          <a:solidFill>
            <a:srgbClr val="005C82"/>
          </a:solidFill>
        </p:spPr>
      </p:sp>
      <p:sp>
        <p:nvSpPr>
          <p:cNvPr id="36" name="Text 34"/>
          <p:cNvSpPr/>
          <p:nvPr/>
        </p:nvSpPr>
        <p:spPr>
          <a:xfrm>
            <a:off x="2692400" y="5232400"/>
            <a:ext cx="457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276600" y="520700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成绩查询与统计流程</a:t>
            </a:r>
            <a:endParaRPr lang="en-US" sz="2400" b="1" dirty="0">
              <a:solidFill>
                <a:schemeClr val="bg1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276600" y="5588000"/>
            <a:ext cx="12319000" cy="86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>
                    <a:alpha val="80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选择查询条件 → 系统检索成绩数据 → 显示成绩列表 → 计算平均分、最高分、最低分、及格率、优秀率等统计结果</a:t>
            </a:r>
            <a:endParaRPr lang="en-US" dirty="0">
              <a:solidFill>
                <a:schemeClr val="bg1">
                  <a:alpha val="80000"/>
                </a:schemeClr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540000" y="6858000"/>
            <a:ext cx="13208000" cy="1270000"/>
          </a:xfrm>
          <a:prstGeom prst="roundRect">
            <a:avLst>
              <a:gd name="adj" fmla="val 4000"/>
            </a:avLst>
          </a:prstGeom>
          <a:solidFill>
            <a:srgbClr val="E0F4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94000" y="7137400"/>
            <a:ext cx="177800" cy="177800"/>
          </a:xfrm>
          <a:prstGeom prst="diamond">
            <a:avLst/>
          </a:prstGeom>
          <a:solidFill>
            <a:srgbClr val="005C82"/>
          </a:solidFill>
        </p:spPr>
      </p:sp>
      <p:sp>
        <p:nvSpPr>
          <p:cNvPr id="41" name="Text 39"/>
          <p:cNvSpPr/>
          <p:nvPr/>
        </p:nvSpPr>
        <p:spPr>
          <a:xfrm>
            <a:off x="3098800" y="698500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功能需求总结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3098800" y="7366000"/>
            <a:ext cx="12446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系统覆盖基础信息维护、选课管理、授课管理、成绩录入、成绩查询与统计五大核心业务，功能设计齐全，满足高校教学管理需求。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000" y="1778000"/>
            <a:ext cx="4826000" cy="4826000"/>
          </a:xfrm>
          <a:prstGeom prst="rect">
            <a:avLst/>
          </a:prstGeom>
          <a:solidFill>
            <a:srgbClr val="005C82">
              <a:alpha val="3922"/>
            </a:srgbClr>
          </a:solidFill>
          <a:ln w="12700">
            <a:solidFill>
              <a:srgbClr val="005C82">
                <a:alpha val="18824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40000" y="2286000"/>
            <a:ext cx="3810000" cy="3810000"/>
          </a:xfrm>
          <a:prstGeom prst="rect">
            <a:avLst/>
          </a:prstGeom>
          <a:solidFill>
            <a:srgbClr val="005C82">
              <a:alpha val="3922"/>
            </a:srgbClr>
          </a:solidFill>
          <a:ln w="25400">
            <a:solidFill>
              <a:srgbClr val="005C82">
                <a:alpha val="31373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8000" y="2794000"/>
            <a:ext cx="2794000" cy="279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C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48000" y="2794000"/>
            <a:ext cx="2794000" cy="279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0" y="2794000"/>
            <a:ext cx="12700" cy="2794000"/>
          </a:xfrm>
          <a:prstGeom prst="rect">
            <a:avLst/>
          </a:prstGeom>
          <a:solidFill>
            <a:srgbClr val="B0BEC5"/>
          </a:solidFill>
        </p:spPr>
      </p:sp>
      <p:sp>
        <p:nvSpPr>
          <p:cNvPr id="7" name="Text 5"/>
          <p:cNvSpPr/>
          <p:nvPr/>
        </p:nvSpPr>
        <p:spPr>
          <a:xfrm>
            <a:off x="8128000" y="2921000"/>
            <a:ext cx="7112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400" dirty="0">
                <a:solidFill>
                  <a:srgbClr val="00ACC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0" y="3403600"/>
            <a:ext cx="736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概念模型与设计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0" y="4419600"/>
            <a:ext cx="736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B0BEC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Conceptual Model and Design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128000" y="5029200"/>
            <a:ext cx="2540000" cy="25400"/>
          </a:xfrm>
          <a:prstGeom prst="rect">
            <a:avLst/>
          </a:prstGeom>
          <a:solidFill>
            <a:srgbClr val="00ACC1"/>
          </a:solidFill>
        </p:spPr>
      </p:sp>
      <p:sp>
        <p:nvSpPr>
          <p:cNvPr id="11" name="Text 9"/>
          <p:cNvSpPr/>
          <p:nvPr/>
        </p:nvSpPr>
        <p:spPr>
          <a:xfrm>
            <a:off x="8128000" y="5283200"/>
            <a:ext cx="736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2.1　ER模型与关系模式设计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128000" y="5740400"/>
            <a:ext cx="736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2.2　完整性约束设计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9144000"/>
          </a:xfrm>
          <a:prstGeom prst="rect">
            <a:avLst/>
          </a:prstGeom>
          <a:solidFill>
            <a:srgbClr val="004060"/>
          </a:solidFill>
        </p:spPr>
      </p:sp>
      <p:sp>
        <p:nvSpPr>
          <p:cNvPr id="3" name="Shape 1"/>
          <p:cNvSpPr/>
          <p:nvPr/>
        </p:nvSpPr>
        <p:spPr>
          <a:xfrm>
            <a:off x="177800" y="177800"/>
            <a:ext cx="457200" cy="457200"/>
          </a:xfrm>
          <a:prstGeom prst="ellipse">
            <a:avLst/>
          </a:prstGeom>
          <a:solidFill>
            <a:srgbClr val="FFFFFF">
              <a:alpha val="12549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352800"/>
            <a:ext cx="2286000" cy="1168400"/>
          </a:xfrm>
          <a:prstGeom prst="rect">
            <a:avLst/>
          </a:prstGeom>
          <a:solidFill>
            <a:srgbClr val="005C82"/>
          </a:solidFill>
        </p:spPr>
      </p:sp>
      <p:sp>
        <p:nvSpPr>
          <p:cNvPr id="5" name="Text 3"/>
          <p:cNvSpPr/>
          <p:nvPr/>
        </p:nvSpPr>
        <p:spPr>
          <a:xfrm>
            <a:off x="101600" y="10160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 需求分析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1600" y="33528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 概念模型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1600" y="56896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 实现与功能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66800" y="7493000"/>
            <a:ext cx="152400" cy="152400"/>
          </a:xfrm>
          <a:prstGeom prst="diamond">
            <a:avLst/>
          </a:prstGeom>
          <a:solidFill>
            <a:srgbClr val="00ACC1"/>
          </a:solidFill>
        </p:spPr>
      </p:sp>
      <p:sp>
        <p:nvSpPr>
          <p:cNvPr id="9" name="Shape 7"/>
          <p:cNvSpPr/>
          <p:nvPr/>
        </p:nvSpPr>
        <p:spPr>
          <a:xfrm>
            <a:off x="2286000" y="0"/>
            <a:ext cx="13970000" cy="635000"/>
          </a:xfrm>
          <a:prstGeom prst="rect">
            <a:avLst/>
          </a:prstGeom>
          <a:solidFill>
            <a:srgbClr val="E0F4FA"/>
          </a:solidFill>
        </p:spPr>
      </p:sp>
      <p:sp>
        <p:nvSpPr>
          <p:cNvPr id="10" name="Text 8"/>
          <p:cNvSpPr/>
          <p:nvPr/>
        </p:nvSpPr>
        <p:spPr>
          <a:xfrm>
            <a:off x="2540000" y="0"/>
            <a:ext cx="12827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 概念模型与设计</a:t>
            </a:r>
            <a:r>
              <a:rPr lang="en-US" sz="2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　›　2.1 ER模型与实体划分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621000" y="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40000" y="863600"/>
            <a:ext cx="1320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ER模型与实体划分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540000" y="1397000"/>
            <a:ext cx="13208000" cy="12700"/>
          </a:xfrm>
          <a:prstGeom prst="rect">
            <a:avLst/>
          </a:prstGeom>
          <a:solidFill>
            <a:srgbClr val="B0BEC5"/>
          </a:solidFill>
        </p:spPr>
      </p:sp>
      <p:sp>
        <p:nvSpPr>
          <p:cNvPr id="14" name="Text 12"/>
          <p:cNvSpPr/>
          <p:nvPr/>
        </p:nvSpPr>
        <p:spPr>
          <a:xfrm>
            <a:off x="2540000" y="1574800"/>
            <a:ext cx="13208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系统采用规范ER模型，共划分 </a:t>
            </a:r>
            <a:r>
              <a:rPr lang="en-US" sz="2400" b="1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6个核心实体</a:t>
            </a:r>
            <a:r>
              <a:rPr lang="en-US" sz="24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和 </a:t>
            </a:r>
            <a:r>
              <a:rPr lang="en-US" sz="2400" b="1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2个联系表</a:t>
            </a:r>
            <a:r>
              <a:rPr lang="en-US" sz="24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，实体类型划分合理，无遗漏或重复。</a:t>
            </a:r>
            <a:endParaRPr lang="en-US" sz="24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000" y="2171700"/>
            <a:ext cx="13157200" cy="68332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9144000"/>
          </a:xfrm>
          <a:prstGeom prst="rect">
            <a:avLst/>
          </a:prstGeom>
          <a:solidFill>
            <a:srgbClr val="004060"/>
          </a:solidFill>
        </p:spPr>
      </p:sp>
      <p:sp>
        <p:nvSpPr>
          <p:cNvPr id="3" name="Shape 1"/>
          <p:cNvSpPr/>
          <p:nvPr/>
        </p:nvSpPr>
        <p:spPr>
          <a:xfrm>
            <a:off x="177800" y="177800"/>
            <a:ext cx="457200" cy="457200"/>
          </a:xfrm>
          <a:prstGeom prst="ellipse">
            <a:avLst/>
          </a:prstGeom>
          <a:solidFill>
            <a:srgbClr val="FFFFFF">
              <a:alpha val="12549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352800"/>
            <a:ext cx="2286000" cy="1168400"/>
          </a:xfrm>
          <a:prstGeom prst="rect">
            <a:avLst/>
          </a:prstGeom>
          <a:solidFill>
            <a:srgbClr val="005C82"/>
          </a:solidFill>
        </p:spPr>
      </p:sp>
      <p:sp>
        <p:nvSpPr>
          <p:cNvPr id="5" name="Text 3"/>
          <p:cNvSpPr/>
          <p:nvPr/>
        </p:nvSpPr>
        <p:spPr>
          <a:xfrm>
            <a:off x="101600" y="10160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 需求分析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1600" y="33528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 概念模型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1600" y="56896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 实现与功能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66800" y="7493000"/>
            <a:ext cx="152400" cy="152400"/>
          </a:xfrm>
          <a:prstGeom prst="diamond">
            <a:avLst/>
          </a:prstGeom>
          <a:solidFill>
            <a:srgbClr val="00ACC1"/>
          </a:solidFill>
        </p:spPr>
      </p:sp>
      <p:sp>
        <p:nvSpPr>
          <p:cNvPr id="9" name="Shape 7"/>
          <p:cNvSpPr/>
          <p:nvPr/>
        </p:nvSpPr>
        <p:spPr>
          <a:xfrm>
            <a:off x="2286000" y="0"/>
            <a:ext cx="13970000" cy="635000"/>
          </a:xfrm>
          <a:prstGeom prst="rect">
            <a:avLst/>
          </a:prstGeom>
          <a:solidFill>
            <a:srgbClr val="E0F4FA"/>
          </a:solidFill>
        </p:spPr>
      </p:sp>
      <p:sp>
        <p:nvSpPr>
          <p:cNvPr id="10" name="Text 8"/>
          <p:cNvSpPr/>
          <p:nvPr/>
        </p:nvSpPr>
        <p:spPr>
          <a:xfrm>
            <a:off x="2540000" y="0"/>
            <a:ext cx="12827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 概念模型与设计</a:t>
            </a:r>
            <a:r>
              <a:rPr lang="en-US" sz="2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　›　2.1 关系模式设计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621000" y="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40000" y="863600"/>
            <a:ext cx="1320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关系模式设计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540000" y="1397000"/>
            <a:ext cx="13208000" cy="12700"/>
          </a:xfrm>
          <a:prstGeom prst="rect">
            <a:avLst/>
          </a:prstGeom>
          <a:solidFill>
            <a:srgbClr val="B0BEC5"/>
          </a:solidFill>
        </p:spPr>
      </p:sp>
      <p:sp>
        <p:nvSpPr>
          <p:cNvPr id="14" name="Text 12"/>
          <p:cNvSpPr/>
          <p:nvPr/>
        </p:nvSpPr>
        <p:spPr>
          <a:xfrm>
            <a:off x="2540000" y="1574800"/>
            <a:ext cx="1320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将概念模型的实体和关系转换为 </a:t>
            </a:r>
            <a:r>
              <a:rPr lang="en-US" sz="2000" b="1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8个关系模式</a:t>
            </a:r>
            <a:r>
              <a:rPr lang="en-US" sz="20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，确定合理的主键（PK）和外键（FK）：</a:t>
            </a:r>
            <a:endParaRPr lang="en-US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2540000" y="2082800"/>
          <a:ext cx="13208000" cy="6350000"/>
        </p:xfrm>
        <a:graphic>
          <a:graphicData uri="http://schemas.openxmlformats.org/drawingml/2006/table">
            <a:tbl>
              <a:tblPr/>
              <a:tblGrid>
                <a:gridCol w="2113280"/>
                <a:gridCol w="3962400"/>
                <a:gridCol w="713232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关系模式</a:t>
                      </a:r>
                      <a:endParaRPr lang="en-US" sz="20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主键 / 唯一约束</a:t>
                      </a:r>
                      <a:endParaRPr lang="en-US" sz="20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外键与关键属性</a:t>
                      </a:r>
                      <a:endParaRPr lang="en-US" sz="20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Department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department_id (PK)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department_code UNIQUE, department_name UNIQUE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Major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major_id (PK)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department_id FK→Department，UNIQUE(department_id, major_name)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Student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student_id (PK), student_no (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UNIQUE</a:t>
                      </a:r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)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major_id FK→Major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Course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course_id (PK), course_code 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UNIQUE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)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department_id FK→Department，class_hours&gt;0，credits&gt;0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Teacher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teacher_id (PK), teacher_no 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UNIQUE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)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department_id FK→Department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Teacher_Course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(teacher_id, course_id, semester) PK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teacher_id FK→Teacher，course_id FK→Course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Grade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grade_id (PK)，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UNIQUE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  <a:sym typeface="+mn-ea"/>
                        </a:rPr>
                        <a:t>)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(student_id, course_id, semester, exam_type)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student_id FK→Student，course_id FK→Course，score∈[0,100]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9144000"/>
          </a:xfrm>
          <a:prstGeom prst="rect">
            <a:avLst/>
          </a:prstGeom>
          <a:solidFill>
            <a:srgbClr val="004060"/>
          </a:solidFill>
        </p:spPr>
      </p:sp>
      <p:sp>
        <p:nvSpPr>
          <p:cNvPr id="3" name="Shape 1"/>
          <p:cNvSpPr/>
          <p:nvPr/>
        </p:nvSpPr>
        <p:spPr>
          <a:xfrm>
            <a:off x="177800" y="177800"/>
            <a:ext cx="457200" cy="457200"/>
          </a:xfrm>
          <a:prstGeom prst="ellipse">
            <a:avLst/>
          </a:prstGeom>
          <a:solidFill>
            <a:srgbClr val="FFFFFF">
              <a:alpha val="12549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352800"/>
            <a:ext cx="2286000" cy="1168400"/>
          </a:xfrm>
          <a:prstGeom prst="rect">
            <a:avLst/>
          </a:prstGeom>
          <a:solidFill>
            <a:srgbClr val="005C82"/>
          </a:solidFill>
        </p:spPr>
        <p:txBody>
          <a:bodyPr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1600" y="10160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 需求分析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1600" y="33528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 概念模型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1600" y="56896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 实现与功能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66800" y="7493000"/>
            <a:ext cx="152400" cy="152400"/>
          </a:xfrm>
          <a:prstGeom prst="diamond">
            <a:avLst/>
          </a:prstGeom>
          <a:solidFill>
            <a:srgbClr val="00ACC1"/>
          </a:solidFill>
        </p:spPr>
      </p:sp>
      <p:sp>
        <p:nvSpPr>
          <p:cNvPr id="9" name="Shape 7"/>
          <p:cNvSpPr/>
          <p:nvPr/>
        </p:nvSpPr>
        <p:spPr>
          <a:xfrm>
            <a:off x="2286000" y="0"/>
            <a:ext cx="13970000" cy="635000"/>
          </a:xfrm>
          <a:prstGeom prst="rect">
            <a:avLst/>
          </a:prstGeom>
          <a:solidFill>
            <a:srgbClr val="E0F4FA"/>
          </a:solidFill>
        </p:spPr>
        <p:txBody>
          <a:bodyPr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540000" y="0"/>
            <a:ext cx="12827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 概念模型与设计</a:t>
            </a:r>
            <a:r>
              <a:rPr lang="en-US" sz="2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　›　2.2 完整性约束设计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621000" y="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40000" y="863600"/>
            <a:ext cx="1320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完整性约束设计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540000" y="1397000"/>
            <a:ext cx="13208000" cy="12700"/>
          </a:xfrm>
          <a:prstGeom prst="rect">
            <a:avLst/>
          </a:prstGeom>
          <a:solidFill>
            <a:srgbClr val="B0BEC5"/>
          </a:solidFill>
        </p:spPr>
      </p:sp>
      <p:sp>
        <p:nvSpPr>
          <p:cNvPr id="14" name="Shape 12"/>
          <p:cNvSpPr/>
          <p:nvPr/>
        </p:nvSpPr>
        <p:spPr>
          <a:xfrm>
            <a:off x="2540000" y="1676400"/>
            <a:ext cx="177800" cy="177800"/>
          </a:xfrm>
          <a:prstGeom prst="diamond">
            <a:avLst/>
          </a:prstGeom>
          <a:solidFill>
            <a:srgbClr val="005C82"/>
          </a:solidFill>
        </p:spPr>
      </p:sp>
      <p:sp>
        <p:nvSpPr>
          <p:cNvPr id="15" name="Text 13"/>
          <p:cNvSpPr/>
          <p:nvPr/>
        </p:nvSpPr>
        <p:spPr>
          <a:xfrm>
            <a:off x="2870200" y="1600200"/>
            <a:ext cx="1308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实体完整性（Entity Integrity）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870200" y="2006600"/>
            <a:ext cx="13081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每张表均设置主键（PK），保证每条记录唯一。同时对学号(student_no)、身份证号(id_card)、课程代码(course_code)、教师工号(teacher_no)、院系代码(department_code)等设置 </a:t>
            </a:r>
            <a:r>
              <a:rPr lang="en-US" sz="2000" b="1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UNIQUE</a:t>
            </a:r>
            <a:r>
              <a:rPr lang="en-US" sz="20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唯一约束，防止重复数据。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540000" y="3048000"/>
            <a:ext cx="13208000" cy="12700"/>
          </a:xfrm>
          <a:prstGeom prst="rect">
            <a:avLst/>
          </a:prstGeom>
          <a:solidFill>
            <a:srgbClr val="E0F4FA"/>
          </a:solidFill>
        </p:spPr>
      </p:sp>
      <p:sp>
        <p:nvSpPr>
          <p:cNvPr id="18" name="Shape 16"/>
          <p:cNvSpPr/>
          <p:nvPr/>
        </p:nvSpPr>
        <p:spPr>
          <a:xfrm>
            <a:off x="2540000" y="3352800"/>
            <a:ext cx="177800" cy="177800"/>
          </a:xfrm>
          <a:prstGeom prst="diamond">
            <a:avLst/>
          </a:prstGeom>
          <a:solidFill>
            <a:srgbClr val="007AA8"/>
          </a:solidFill>
        </p:spPr>
      </p:sp>
      <p:sp>
        <p:nvSpPr>
          <p:cNvPr id="19" name="Text 17"/>
          <p:cNvSpPr/>
          <p:nvPr/>
        </p:nvSpPr>
        <p:spPr>
          <a:xfrm>
            <a:off x="2870200" y="3276600"/>
            <a:ext cx="1308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参照完整性（Referential Integrity）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870200" y="3683000"/>
            <a:ext cx="1308100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通过外键（FK）保证表之间关系正确，共设计 </a:t>
            </a:r>
            <a:r>
              <a:rPr lang="en-US" sz="2000" b="1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6组外键关系</a:t>
            </a:r>
            <a:r>
              <a:rPr lang="en-US" sz="20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：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◆ Student.major_id → Major　|　◆ Student.major_dept_id → Department　|　◆ Major.department_id → Department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◆ Course.department_id → Department　|　◆ Teacher.department_id → Department　|　◆ Grade → Student/Course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540000" y="5232400"/>
            <a:ext cx="13208000" cy="12700"/>
          </a:xfrm>
          <a:prstGeom prst="rect">
            <a:avLst/>
          </a:prstGeom>
          <a:solidFill>
            <a:srgbClr val="E0F4FA"/>
          </a:solidFill>
        </p:spPr>
      </p:sp>
      <p:sp>
        <p:nvSpPr>
          <p:cNvPr id="22" name="Shape 20"/>
          <p:cNvSpPr/>
          <p:nvPr/>
        </p:nvSpPr>
        <p:spPr>
          <a:xfrm>
            <a:off x="2540000" y="5537200"/>
            <a:ext cx="177800" cy="177800"/>
          </a:xfrm>
          <a:prstGeom prst="diamond">
            <a:avLst/>
          </a:prstGeom>
          <a:solidFill>
            <a:srgbClr val="00ACC1"/>
          </a:solidFill>
        </p:spPr>
      </p:sp>
      <p:sp>
        <p:nvSpPr>
          <p:cNvPr id="23" name="Text 21"/>
          <p:cNvSpPr/>
          <p:nvPr/>
        </p:nvSpPr>
        <p:spPr>
          <a:xfrm>
            <a:off x="2870200" y="5461000"/>
            <a:ext cx="1308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检查完整性（Check Integrity）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870200" y="5867400"/>
            <a:ext cx="1308100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对关键字段设置域约束（Domain Constraints），确保数据有效性：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◆ 性别∈{男,女}　◆ 分数 0-100　◆ 绩点 0-5　◆ 学分&gt;0　◆ 学时&gt;0　◆ 已修学分≥0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◆ 学位等级∈{本科,硕士,博士}　◆ 考核类型∈{正考,补考,重修}　◆ 选课状态∈{已选,退课,已完成}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540000" y="7620000"/>
            <a:ext cx="13208000" cy="762000"/>
          </a:xfrm>
          <a:prstGeom prst="rect">
            <a:avLst/>
          </a:prstGeom>
          <a:solidFill>
            <a:srgbClr val="005C82"/>
          </a:solidFill>
        </p:spPr>
      </p:sp>
      <p:sp>
        <p:nvSpPr>
          <p:cNvPr id="26" name="Shape 24"/>
          <p:cNvSpPr/>
          <p:nvPr/>
        </p:nvSpPr>
        <p:spPr>
          <a:xfrm>
            <a:off x="2717800" y="7886700"/>
            <a:ext cx="152400" cy="152400"/>
          </a:xfrm>
          <a:prstGeom prst="diamond">
            <a:avLst/>
          </a:prstGeom>
          <a:solidFill>
            <a:srgbClr val="00ACC1"/>
          </a:solidFill>
        </p:spPr>
      </p:sp>
      <p:sp>
        <p:nvSpPr>
          <p:cNvPr id="27" name="Text 25"/>
          <p:cNvSpPr/>
          <p:nvPr/>
        </p:nvSpPr>
        <p:spPr>
          <a:xfrm>
            <a:off x="3022600" y="7734300"/>
            <a:ext cx="12522200" cy="422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三类完整性约束（实体完整性 + 参照完整性 + 检查完整性）共同保障数据的一致性和有效性。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2000" y="1778000"/>
            <a:ext cx="4826000" cy="4826000"/>
          </a:xfrm>
          <a:prstGeom prst="rect">
            <a:avLst/>
          </a:prstGeom>
          <a:solidFill>
            <a:srgbClr val="005C82">
              <a:alpha val="3922"/>
            </a:srgbClr>
          </a:solidFill>
          <a:ln w="12700">
            <a:solidFill>
              <a:srgbClr val="005C82">
                <a:alpha val="18824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40000" y="2286000"/>
            <a:ext cx="3810000" cy="3810000"/>
          </a:xfrm>
          <a:prstGeom prst="rect">
            <a:avLst/>
          </a:prstGeom>
          <a:solidFill>
            <a:srgbClr val="005C82">
              <a:alpha val="3922"/>
            </a:srgbClr>
          </a:solidFill>
          <a:ln w="25400">
            <a:solidFill>
              <a:srgbClr val="005C82">
                <a:alpha val="31373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8000" y="2794000"/>
            <a:ext cx="2794000" cy="279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C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48000" y="2794000"/>
            <a:ext cx="2794000" cy="279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0" y="2794000"/>
            <a:ext cx="12700" cy="2794000"/>
          </a:xfrm>
          <a:prstGeom prst="rect">
            <a:avLst/>
          </a:prstGeom>
          <a:solidFill>
            <a:srgbClr val="B0BEC5"/>
          </a:solidFill>
        </p:spPr>
      </p:sp>
      <p:sp>
        <p:nvSpPr>
          <p:cNvPr id="7" name="Text 5"/>
          <p:cNvSpPr/>
          <p:nvPr/>
        </p:nvSpPr>
        <p:spPr>
          <a:xfrm>
            <a:off x="8128000" y="2921000"/>
            <a:ext cx="7112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400" dirty="0">
                <a:solidFill>
                  <a:srgbClr val="00ACC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CHAPTER THREE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0" y="3403600"/>
            <a:ext cx="736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数据库实现与功能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0" y="4419600"/>
            <a:ext cx="736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B0BEC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Database Implementation and Functions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128000" y="5029200"/>
            <a:ext cx="2540000" cy="25400"/>
          </a:xfrm>
          <a:prstGeom prst="rect">
            <a:avLst/>
          </a:prstGeom>
          <a:solidFill>
            <a:srgbClr val="00ACC1"/>
          </a:solidFill>
        </p:spPr>
      </p:sp>
      <p:sp>
        <p:nvSpPr>
          <p:cNvPr id="11" name="Text 9"/>
          <p:cNvSpPr/>
          <p:nvPr/>
        </p:nvSpPr>
        <p:spPr>
          <a:xfrm>
            <a:off x="8128000" y="5283200"/>
            <a:ext cx="736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3.1　范式分析与表设计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128000" y="5740400"/>
            <a:ext cx="736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3.2　功能模块划分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9144000"/>
          </a:xfrm>
          <a:prstGeom prst="rect">
            <a:avLst/>
          </a:prstGeom>
          <a:solidFill>
            <a:srgbClr val="004060"/>
          </a:solidFill>
        </p:spPr>
      </p:sp>
      <p:sp>
        <p:nvSpPr>
          <p:cNvPr id="3" name="Shape 1"/>
          <p:cNvSpPr/>
          <p:nvPr/>
        </p:nvSpPr>
        <p:spPr>
          <a:xfrm>
            <a:off x="177800" y="177800"/>
            <a:ext cx="457200" cy="457200"/>
          </a:xfrm>
          <a:prstGeom prst="ellipse">
            <a:avLst/>
          </a:prstGeom>
          <a:solidFill>
            <a:srgbClr val="FFFFFF">
              <a:alpha val="12549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689600"/>
            <a:ext cx="2286000" cy="1168400"/>
          </a:xfrm>
          <a:prstGeom prst="rect">
            <a:avLst/>
          </a:prstGeom>
          <a:solidFill>
            <a:srgbClr val="005C82"/>
          </a:solidFill>
        </p:spPr>
      </p:sp>
      <p:sp>
        <p:nvSpPr>
          <p:cNvPr id="5" name="Text 3"/>
          <p:cNvSpPr/>
          <p:nvPr/>
        </p:nvSpPr>
        <p:spPr>
          <a:xfrm>
            <a:off x="101600" y="10160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 需求分析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1600" y="33528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 概念模型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1600" y="56896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 实现与功能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66800" y="7493000"/>
            <a:ext cx="152400" cy="152400"/>
          </a:xfrm>
          <a:prstGeom prst="diamond">
            <a:avLst/>
          </a:prstGeom>
          <a:solidFill>
            <a:srgbClr val="00ACC1"/>
          </a:solidFill>
        </p:spPr>
      </p:sp>
      <p:sp>
        <p:nvSpPr>
          <p:cNvPr id="9" name="Shape 7"/>
          <p:cNvSpPr/>
          <p:nvPr/>
        </p:nvSpPr>
        <p:spPr>
          <a:xfrm>
            <a:off x="2286000" y="0"/>
            <a:ext cx="13970000" cy="635000"/>
          </a:xfrm>
          <a:prstGeom prst="rect">
            <a:avLst/>
          </a:prstGeom>
          <a:solidFill>
            <a:srgbClr val="E0F4FA"/>
          </a:solidFill>
        </p:spPr>
      </p:sp>
      <p:sp>
        <p:nvSpPr>
          <p:cNvPr id="10" name="Text 8"/>
          <p:cNvSpPr/>
          <p:nvPr/>
        </p:nvSpPr>
        <p:spPr>
          <a:xfrm>
            <a:off x="2540000" y="0"/>
            <a:ext cx="12827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 数据库实现与功能</a:t>
            </a:r>
            <a:r>
              <a:rPr lang="en-US" sz="2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　›　3.1 范式分析与表设计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621000" y="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40000" y="863600"/>
            <a:ext cx="1320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范式分析与表设计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540000" y="1397000"/>
            <a:ext cx="13208000" cy="12700"/>
          </a:xfrm>
          <a:prstGeom prst="rect">
            <a:avLst/>
          </a:prstGeom>
          <a:solidFill>
            <a:srgbClr val="B0BEC5"/>
          </a:solidFill>
        </p:spPr>
      </p:sp>
      <p:sp>
        <p:nvSpPr>
          <p:cNvPr id="14" name="Shape 12"/>
          <p:cNvSpPr/>
          <p:nvPr/>
        </p:nvSpPr>
        <p:spPr>
          <a:xfrm>
            <a:off x="2540000" y="1574800"/>
            <a:ext cx="6350000" cy="482600"/>
          </a:xfrm>
          <a:prstGeom prst="rect">
            <a:avLst/>
          </a:prstGeom>
          <a:solidFill>
            <a:srgbClr val="005C82"/>
          </a:solidFill>
        </p:spPr>
      </p:sp>
      <p:sp>
        <p:nvSpPr>
          <p:cNvPr id="15" name="Text 13"/>
          <p:cNvSpPr/>
          <p:nvPr/>
        </p:nvSpPr>
        <p:spPr>
          <a:xfrm>
            <a:off x="2540000" y="1574800"/>
            <a:ext cx="6350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范式验证（满足 3NF）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2540000" y="2057400"/>
            <a:ext cx="6350000" cy="3175000"/>
          </a:xfrm>
          <a:prstGeom prst="rect">
            <a:avLst/>
          </a:prstGeom>
          <a:solidFill>
            <a:srgbClr val="E0F4FA"/>
          </a:solidFill>
        </p:spPr>
      </p:sp>
      <p:sp>
        <p:nvSpPr>
          <p:cNvPr id="17" name="Text 15"/>
          <p:cNvSpPr/>
          <p:nvPr/>
        </p:nvSpPr>
        <p:spPr>
          <a:xfrm>
            <a:off x="2768600" y="2209800"/>
            <a:ext cx="5892800" cy="287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1NF</a:t>
            </a:r>
            <a:r>
              <a:rPr lang="en-US" sz="20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：所有字段为不可再分的原子值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2NF</a:t>
            </a:r>
            <a:r>
              <a:rPr lang="en-US" sz="20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：非主属性完全依赖主键，无部分依赖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3NF</a:t>
            </a:r>
            <a:r>
              <a:rPr lang="en-US" sz="20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：非主属性间无传递依赖，如 Student 表只存 major_id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44000" y="1574800"/>
            <a:ext cx="6604000" cy="482600"/>
          </a:xfrm>
          <a:prstGeom prst="rect">
            <a:avLst/>
          </a:prstGeom>
          <a:solidFill>
            <a:srgbClr val="007AA8"/>
          </a:solidFill>
        </p:spPr>
      </p:sp>
      <p:sp>
        <p:nvSpPr>
          <p:cNvPr id="19" name="Text 17"/>
          <p:cNvSpPr/>
          <p:nvPr/>
        </p:nvSpPr>
        <p:spPr>
          <a:xfrm>
            <a:off x="9144000" y="1574800"/>
            <a:ext cx="6604000" cy="482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Grade 表结构示例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144000" y="2057400"/>
            <a:ext cx="6604000" cy="3175000"/>
          </a:xfrm>
          <a:prstGeom prst="rect">
            <a:avLst/>
          </a:prstGeom>
          <a:solidFill>
            <a:srgbClr val="E8F4F8"/>
          </a:solidFill>
        </p:spPr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9271000" y="2184400"/>
          <a:ext cx="6350000" cy="2921002"/>
        </p:xfrm>
        <a:graphic>
          <a:graphicData uri="http://schemas.openxmlformats.org/drawingml/2006/table">
            <a:tbl>
              <a:tblPr/>
              <a:tblGrid>
                <a:gridCol w="1778000"/>
                <a:gridCol w="1604010"/>
                <a:gridCol w="1380490"/>
                <a:gridCol w="1587500"/>
              </a:tblGrid>
              <a:tr h="471952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字段名</a:t>
                      </a:r>
                      <a:endParaRPr lang="en-US" sz="18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类型</a:t>
                      </a:r>
                      <a:endParaRPr lang="en-US" sz="18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约束</a:t>
                      </a:r>
                      <a:endParaRPr lang="en-US" sz="18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</a:t>
                      </a:r>
                      <a:endParaRPr lang="en-US" sz="18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</a:tr>
              <a:tr h="40817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grade_id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INT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PK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成绩记录编号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17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student_id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INT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FK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学生编号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  <a:tr h="40817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course_id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INT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FK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课程编号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17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semester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VARCHAR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NOT NULL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学期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  <a:tr h="40817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score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DECIMAL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CHECK 0-100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分数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17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grade_point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DECIMAL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CHECK 0-5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绩点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2540000" y="5435600"/>
            <a:ext cx="508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主键与外键设计总结</a:t>
            </a:r>
            <a:endParaRPr lang="en-US" sz="24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/>
        </p:nvGraphicFramePr>
        <p:xfrm>
          <a:off x="2540000" y="5867400"/>
          <a:ext cx="13208000" cy="2540000"/>
        </p:xfrm>
        <a:graphic>
          <a:graphicData uri="http://schemas.openxmlformats.org/drawingml/2006/table">
            <a:tbl>
              <a:tblPr/>
              <a:tblGrid>
                <a:gridCol w="2377440"/>
                <a:gridCol w="4226560"/>
                <a:gridCol w="6604000"/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数据表</a:t>
                      </a:r>
                      <a:endParaRPr lang="en-US" sz="18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主键</a:t>
                      </a:r>
                      <a:endParaRPr lang="en-US" sz="18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外键</a:t>
                      </a:r>
                      <a:endParaRPr lang="en-US" sz="18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Student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student_id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major_id → Major, major_dept_id → Department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Major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major_id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department_id → Department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Course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course_id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department_id → Department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Teacher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teacher_id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department_id → Department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Grade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grade_id (PK)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student_id → Student, course_id → Course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Teacher_Course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(teacher_id, course_id, semester)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teacher_id → Teacher, course_id → Course</a:t>
                      </a:r>
                      <a:endParaRPr lang="en-US" sz="18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9144000"/>
          </a:xfrm>
          <a:prstGeom prst="rect">
            <a:avLst/>
          </a:prstGeom>
          <a:solidFill>
            <a:srgbClr val="004060"/>
          </a:solidFill>
        </p:spPr>
      </p:sp>
      <p:sp>
        <p:nvSpPr>
          <p:cNvPr id="3" name="Shape 1"/>
          <p:cNvSpPr/>
          <p:nvPr/>
        </p:nvSpPr>
        <p:spPr>
          <a:xfrm>
            <a:off x="177800" y="177800"/>
            <a:ext cx="457200" cy="457200"/>
          </a:xfrm>
          <a:prstGeom prst="ellipse">
            <a:avLst/>
          </a:prstGeom>
          <a:solidFill>
            <a:srgbClr val="FFFFFF">
              <a:alpha val="12549"/>
            </a:srgbClr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689600"/>
            <a:ext cx="2286000" cy="1168400"/>
          </a:xfrm>
          <a:prstGeom prst="rect">
            <a:avLst/>
          </a:prstGeom>
          <a:solidFill>
            <a:srgbClr val="005C82"/>
          </a:solidFill>
        </p:spPr>
      </p:sp>
      <p:sp>
        <p:nvSpPr>
          <p:cNvPr id="5" name="Text 3"/>
          <p:cNvSpPr/>
          <p:nvPr/>
        </p:nvSpPr>
        <p:spPr>
          <a:xfrm>
            <a:off x="101600" y="10160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 需求分析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1600" y="33528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 概念模型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1600" y="5689600"/>
            <a:ext cx="2082800" cy="1168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 实现与功能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66800" y="7493000"/>
            <a:ext cx="152400" cy="152400"/>
          </a:xfrm>
          <a:prstGeom prst="diamond">
            <a:avLst/>
          </a:prstGeom>
          <a:solidFill>
            <a:srgbClr val="00ACC1"/>
          </a:solidFill>
        </p:spPr>
      </p:sp>
      <p:sp>
        <p:nvSpPr>
          <p:cNvPr id="9" name="Shape 7"/>
          <p:cNvSpPr/>
          <p:nvPr/>
        </p:nvSpPr>
        <p:spPr>
          <a:xfrm>
            <a:off x="2286000" y="0"/>
            <a:ext cx="13970000" cy="635000"/>
          </a:xfrm>
          <a:prstGeom prst="rect">
            <a:avLst/>
          </a:prstGeom>
          <a:solidFill>
            <a:srgbClr val="E0F4FA"/>
          </a:solidFill>
        </p:spPr>
      </p:sp>
      <p:sp>
        <p:nvSpPr>
          <p:cNvPr id="10" name="Text 8"/>
          <p:cNvSpPr/>
          <p:nvPr/>
        </p:nvSpPr>
        <p:spPr>
          <a:xfrm>
            <a:off x="2540000" y="0"/>
            <a:ext cx="12827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 数据库实现与功能</a:t>
            </a:r>
            <a:r>
              <a:rPr lang="en-US" sz="2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　›　3.2 功能模块划分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621000" y="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40000" y="863600"/>
            <a:ext cx="1320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功能模块划分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540000" y="1397000"/>
            <a:ext cx="13208000" cy="12700"/>
          </a:xfrm>
          <a:prstGeom prst="rect">
            <a:avLst/>
          </a:prstGeom>
          <a:solidFill>
            <a:srgbClr val="B0BEC5"/>
          </a:solidFill>
        </p:spPr>
      </p:sp>
      <p:sp>
        <p:nvSpPr>
          <p:cNvPr id="14" name="Text 12"/>
          <p:cNvSpPr/>
          <p:nvPr/>
        </p:nvSpPr>
        <p:spPr>
          <a:xfrm>
            <a:off x="2540000" y="1574800"/>
            <a:ext cx="1320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系统划分为 </a:t>
            </a:r>
            <a:r>
              <a:rPr lang="en-US" sz="2000" b="1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7大功能模块</a:t>
            </a:r>
            <a:r>
              <a:rPr lang="en-US" sz="2000" dirty="0">
                <a:solidFill>
                  <a:srgbClr val="33333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，覆盖高校成绩管理的核心业务场景：</a:t>
            </a:r>
            <a:endParaRPr lang="en-US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2540000" y="2082800"/>
          <a:ext cx="13208000" cy="5080000"/>
        </p:xfrm>
        <a:graphic>
          <a:graphicData uri="http://schemas.openxmlformats.org/drawingml/2006/table">
            <a:tbl>
              <a:tblPr/>
              <a:tblGrid>
                <a:gridCol w="2113280"/>
                <a:gridCol w="4490720"/>
                <a:gridCol w="6604000"/>
              </a:tblGrid>
              <a:tr h="511839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功能模块</a:t>
                      </a:r>
                      <a:endParaRPr lang="en-US" sz="20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子功能</a:t>
                      </a:r>
                      <a:endParaRPr lang="en-US" sz="20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对应数据表</a:t>
                      </a:r>
                      <a:endParaRPr lang="en-US" sz="20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</a:tr>
              <a:tr h="652594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基础信息管理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院系/专业/课程/教师/学生的增删改查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Department, Major, Course, Teacher, Student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2594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选课管理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学生选课、退课、查询选课结果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Student_Course, Course, Student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  <a:tr h="652594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授课管理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教师课程分配、授课角色设置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Teacher_Course, Teacher, Course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2594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成绩管理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成绩录入、修改、查询（按学生/课程/学期）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Grade, Student, Course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  <a:tr h="652594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统计分析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平均分、最高分、最低分、及格率、优秀率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Grade, Course, Student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2594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权限管理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管理员/教师/学生三类角色权限控制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User（账户表）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</a:tr>
              <a:tr h="652594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系统管理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数据备份、日志管理、系统配置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系统日志表、配置表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2540000" y="73660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5C8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权限角色设计</a:t>
            </a:r>
            <a:endParaRPr lang="en-US" sz="24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/>
        </p:nvGraphicFramePr>
        <p:xfrm>
          <a:off x="2540000" y="7772400"/>
          <a:ext cx="13208000" cy="762000"/>
        </p:xfrm>
        <a:graphic>
          <a:graphicData uri="http://schemas.openxmlformats.org/drawingml/2006/table">
            <a:tbl>
              <a:tblPr/>
              <a:tblGrid>
                <a:gridCol w="2641600"/>
                <a:gridCol w="105664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</a:t>
                      </a:r>
                      <a:endParaRPr lang="en-US" sz="20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权限范围</a:t>
                      </a:r>
                      <a:endParaRPr lang="en-US" sz="2000" b="1" u="none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C8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管理员 / 教师 / 学生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管理员：全部基础信息和系统用户管理　|　教师：本人授课课程的成绩管理　|　学生：本人课程和成绩查询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270000"/>
          </a:xfrm>
          <a:prstGeom prst="rect">
            <a:avLst/>
          </a:prstGeom>
          <a:solidFill>
            <a:srgbClr val="F4FAFE"/>
          </a:solidFill>
        </p:spPr>
      </p:sp>
      <p:sp>
        <p:nvSpPr>
          <p:cNvPr id="3" name="Shape 1"/>
          <p:cNvSpPr/>
          <p:nvPr/>
        </p:nvSpPr>
        <p:spPr>
          <a:xfrm>
            <a:off x="0" y="1371600"/>
            <a:ext cx="16256000" cy="3810000"/>
          </a:xfrm>
          <a:prstGeom prst="rect">
            <a:avLst/>
          </a:prstGeom>
          <a:gradFill flip="none" rotWithShape="1">
            <a:gsLst>
              <a:gs pos="0">
                <a:srgbClr val="004060"/>
              </a:gs>
              <a:gs pos="50000">
                <a:srgbClr val="005C82"/>
              </a:gs>
              <a:gs pos="100000">
                <a:srgbClr val="007AA8"/>
              </a:gs>
            </a:gsLst>
            <a:lin ang="5400000" scaled="1"/>
          </a:gradFill>
        </p:spPr>
      </p:sp>
      <p:sp>
        <p:nvSpPr>
          <p:cNvPr id="4" name="Text 2"/>
          <p:cNvSpPr/>
          <p:nvPr/>
        </p:nvSpPr>
        <p:spPr>
          <a:xfrm>
            <a:off x="1016000" y="1879600"/>
            <a:ext cx="1143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感谢聆听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3022600"/>
            <a:ext cx="1143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kern="0" spc="4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THANK YOU FOR YOUR ATTENTION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5181600"/>
            <a:ext cx="16256000" cy="3962400"/>
          </a:xfrm>
          <a:prstGeom prst="rect">
            <a:avLst/>
          </a:prstGeom>
          <a:solidFill>
            <a:srgbClr val="F4FAFE"/>
          </a:solidFill>
        </p:spPr>
      </p:sp>
      <p:sp>
        <p:nvSpPr>
          <p:cNvPr id="15" name="Shape 13"/>
          <p:cNvSpPr/>
          <p:nvPr/>
        </p:nvSpPr>
        <p:spPr>
          <a:xfrm>
            <a:off x="12065000" y="5461000"/>
            <a:ext cx="3556000" cy="3175000"/>
          </a:xfrm>
          <a:prstGeom prst="rect">
            <a:avLst/>
          </a:prstGeom>
          <a:solidFill>
            <a:srgbClr val="005C82">
              <a:alpha val="3922"/>
            </a:srgbClr>
          </a:solidFill>
          <a:ln w="12700">
            <a:solidFill>
              <a:srgbClr val="005C82">
                <a:alpha val="1451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0" y="5969000"/>
            <a:ext cx="2540000" cy="2159000"/>
          </a:xfrm>
          <a:prstGeom prst="rect">
            <a:avLst/>
          </a:prstGeom>
          <a:solidFill>
            <a:srgbClr val="005C82">
              <a:alpha val="3137"/>
            </a:srgbClr>
          </a:solidFill>
          <a:ln w="12700">
            <a:solidFill>
              <a:srgbClr val="005C82">
                <a:alpha val="25098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081000" y="6477000"/>
            <a:ext cx="1524000" cy="1143000"/>
          </a:xfrm>
          <a:prstGeom prst="rect">
            <a:avLst/>
          </a:prstGeom>
          <a:solidFill>
            <a:srgbClr val="005C82">
              <a:alpha val="1961"/>
            </a:srgbClr>
          </a:solidFill>
          <a:ln w="25400">
            <a:solidFill>
              <a:srgbClr val="005C82">
                <a:alpha val="33333"/>
              </a:srgbClr>
            </a:solidFill>
            <a:prstDash val="solid"/>
          </a:ln>
        </p:spPr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267,&quot;left&quot;:414,&quot;top&quot;:150,&quot;width&quot;:726}"/>
</p:tagLst>
</file>

<file path=ppt/tags/tag2.xml><?xml version="1.0" encoding="utf-8"?>
<p:tagLst xmlns:p="http://schemas.openxmlformats.org/presentationml/2006/main">
  <p:tag name="KSO_WM_DIAGRAM_VIRTUALLY_FRAME" val="{&quot;height&quot;:267,&quot;left&quot;:414,&quot;top&quot;:150,&quot;width&quot;:726}"/>
</p:tagLst>
</file>

<file path=ppt/tags/tag3.xml><?xml version="1.0" encoding="utf-8"?>
<p:tagLst xmlns:p="http://schemas.openxmlformats.org/presentationml/2006/main">
  <p:tag name="KSO_WM_DIAGRAM_VIRTUALLY_FRAME" val="{&quot;height&quot;:267,&quot;left&quot;:414,&quot;top&quot;:150,&quot;width&quot;:726}"/>
</p:tagLst>
</file>

<file path=ppt/tags/tag4.xml><?xml version="1.0" encoding="utf-8"?>
<p:tagLst xmlns:p="http://schemas.openxmlformats.org/presentationml/2006/main">
  <p:tag name="KSO_WM_DIAGRAM_VIRTUALLY_FRAME" val="{&quot;height&quot;:267,&quot;left&quot;:414,&quot;top&quot;:150,&quot;width&quot;:726}"/>
</p:tagLst>
</file>

<file path=ppt/tags/tag5.xml><?xml version="1.0" encoding="utf-8"?>
<p:tagLst xmlns:p="http://schemas.openxmlformats.org/presentationml/2006/main">
  <p:tag name="KSO_WM_DIAGRAM_VIRTUALLY_FRAME" val="{&quot;height&quot;:267,&quot;left&quot;:414,&quot;top&quot;:150,&quot;width&quot;:726}"/>
</p:tagLst>
</file>

<file path=ppt/tags/tag6.xml><?xml version="1.0" encoding="utf-8"?>
<p:tagLst xmlns:p="http://schemas.openxmlformats.org/presentationml/2006/main">
  <p:tag name="KSO_WM_DIAGRAM_VIRTUALLY_FRAME" val="{&quot;height&quot;:267,&quot;left&quot;:414,&quot;top&quot;:150,&quot;width&quot;:726}"/>
</p:tagLst>
</file>

<file path=ppt/tags/tag7.xml><?xml version="1.0" encoding="utf-8"?>
<p:tagLst xmlns:p="http://schemas.openxmlformats.org/presentationml/2006/main">
  <p:tag name="KSO_WM_DIAGRAM_VIRTUALLY_FRAME" val="{&quot;height&quot;:100,&quot;left&quot;:200,&quot;top&quot;:248,&quot;width&quot;:1040}"/>
</p:tagLst>
</file>

<file path=ppt/tags/tag8.xml><?xml version="1.0" encoding="utf-8"?>
<p:tagLst xmlns:p="http://schemas.openxmlformats.org/presentationml/2006/main">
  <p:tag name="KSO_WM_DIAGRAM_VIRTUALLY_FRAME" val="{&quot;height&quot;:100,&quot;left&quot;:200,&quot;top&quot;:248,&quot;width&quot;:1040}"/>
</p:tagLst>
</file>

<file path=ppt/tags/tag9.xml><?xml version="1.0" encoding="utf-8"?>
<p:tagLst xmlns:p="http://schemas.openxmlformats.org/presentationml/2006/main">
  <p:tag name="KSO_WM_DIAGRAM_VIRTUALLY_FRAME" val="{&quot;height&quot;:100,&quot;left&quot;:200,&quot;top&quot;:248,&quot;width&quot;:1040}"/>
</p:tagLst>
</file>

<file path=ppt/tags/tag10.xml><?xml version="1.0" encoding="utf-8"?>
<p:tagLst xmlns:p="http://schemas.openxmlformats.org/presentationml/2006/main">
  <p:tag name="KSO_WM_DIAGRAM_VIRTUALLY_FRAME" val="{&quot;height&quot;:100,&quot;left&quot;:200,&quot;top&quot;:248,&quot;width&quot;:1040}"/>
</p:tagLst>
</file>

<file path=ppt/tags/tag11.xml><?xml version="1.0" encoding="utf-8"?>
<p:tagLst xmlns:p="http://schemas.openxmlformats.org/presentationml/2006/main">
  <p:tag name="KSO_WM_DIAGRAM_VIRTUALLY_FRAME" val="{&quot;height&quot;:100,&quot;left&quot;:200,&quot;top&quot;:248,&quot;width&quot;:1040}"/>
</p:tagLst>
</file>

<file path=ppt/tags/tag12.xml><?xml version="1.0" encoding="utf-8"?>
<p:tagLst xmlns:p="http://schemas.openxmlformats.org/presentationml/2006/main">
  <p:tag name="KSO_WM_DIAGRAM_VIRTUALLY_FRAME" val="{&quot;height&quot;:100,&quot;left&quot;:200,&quot;top&quot;:248,&quot;width&quot;:1040}"/>
</p:tagLst>
</file>

<file path=ppt/tags/tag13.xml><?xml version="1.0" encoding="utf-8"?>
<p:tagLst xmlns:p="http://schemas.openxmlformats.org/presentationml/2006/main">
  <p:tag name="KSO_WM_DIAGRAM_VIRTUALLY_FRAME" val="{&quot;height&quot;:100,&quot;left&quot;:200,&quot;top&quot;:248,&quot;width&quot;:1040}"/>
</p:tagLst>
</file>

<file path=ppt/tags/tag14.xml><?xml version="1.0" encoding="utf-8"?>
<p:tagLst xmlns:p="http://schemas.openxmlformats.org/presentationml/2006/main">
  <p:tag name="KSO_WM_DIAGRAM_VIRTUALLY_FRAME" val="{&quot;height&quot;:100,&quot;left&quot;:200,&quot;top&quot;:248,&quot;width&quot;:1040}"/>
</p:tagLst>
</file>

<file path=ppt/tags/tag15.xml><?xml version="1.0" encoding="utf-8"?>
<p:tagLst xmlns:p="http://schemas.openxmlformats.org/presentationml/2006/main">
  <p:tag name="KSO_WM_DIAGRAM_VIRTUALLY_FRAME" val="{&quot;height&quot;:100,&quot;left&quot;:200,&quot;top&quot;:248,&quot;width&quot;:1040}"/>
</p:tagLst>
</file>

<file path=ppt/tags/tag16.xml><?xml version="1.0" encoding="utf-8"?>
<p:tagLst xmlns:p="http://schemas.openxmlformats.org/presentationml/2006/main">
  <p:tag name="KSO_WM_DIAGRAM_VIRTUALLY_FRAME" val="{&quot;height&quot;:100,&quot;left&quot;:200,&quot;top&quot;:248,&quot;width&quot;:1040}"/>
</p:tagLst>
</file>

<file path=ppt/tags/tag17.xml><?xml version="1.0" encoding="utf-8"?>
<p:tagLst xmlns:p="http://schemas.openxmlformats.org/presentationml/2006/main">
  <p:tag name="KSO_WM_DIAGRAM_VIRTUALLY_FRAME" val="{&quot;height&quot;:100,&quot;left&quot;:200,&quot;top&quot;:248,&quot;width&quot;:1040}"/>
</p:tagLst>
</file>

<file path=ppt/tags/tag18.xml><?xml version="1.0" encoding="utf-8"?>
<p:tagLst xmlns:p="http://schemas.openxmlformats.org/presentationml/2006/main">
  <p:tag name="KSO_WM_DIAGRAM_VIRTUALLY_FRAME" val="{&quot;height&quot;:100,&quot;left&quot;:200,&quot;top&quot;:248,&quot;width&quot;:1040}"/>
</p:tagLst>
</file>

<file path=ppt/tags/tag19.xml><?xml version="1.0" encoding="utf-8"?>
<p:tagLst xmlns:p="http://schemas.openxmlformats.org/presentationml/2006/main">
  <p:tag name="KSO_WM_DIAGRAM_VIRTUALLY_FRAME" val="{&quot;height&quot;:100,&quot;left&quot;:200,&quot;top&quot;:248,&quot;width&quot;:1040}"/>
</p:tagLst>
</file>

<file path=ppt/tags/tag20.xml><?xml version="1.0" encoding="utf-8"?>
<p:tagLst xmlns:p="http://schemas.openxmlformats.org/presentationml/2006/main">
  <p:tag name="KSO_WM_DIAGRAM_VIRTUALLY_FRAME" val="{&quot;height&quot;:100,&quot;left&quot;:200,&quot;top&quot;:248,&quot;width&quot;:1040}"/>
</p:tagLst>
</file>

<file path=ppt/tags/tag21.xml><?xml version="1.0" encoding="utf-8"?>
<p:tagLst xmlns:p="http://schemas.openxmlformats.org/presentationml/2006/main">
  <p:tag name="KSO_WM_DIAGRAM_VIRTUALLY_FRAME" val="{&quot;height&quot;:100,&quot;left&quot;:200,&quot;top&quot;:248,&quot;width&quot;:1040}"/>
</p:tagLst>
</file>

<file path=ppt/tags/tag22.xml><?xml version="1.0" encoding="utf-8"?>
<p:tagLst xmlns:p="http://schemas.openxmlformats.org/presentationml/2006/main">
  <p:tag name="KSO_WM_DIAGRAM_VIRTUALLY_FRAME" val="{&quot;height&quot;:100,&quot;left&quot;:200,&quot;top&quot;:248,&quot;width&quot;:1040}"/>
</p:tagLst>
</file>

<file path=ppt/tags/tag23.xml><?xml version="1.0" encoding="utf-8"?>
<p:tagLst xmlns:p="http://schemas.openxmlformats.org/presentationml/2006/main">
  <p:tag name="KSO_WM_DIAGRAM_VIRTUALLY_FRAME" val="{&quot;height&quot;:100,&quot;left&quot;:200,&quot;top&quot;:248,&quot;width&quot;:1040}"/>
</p:tagLst>
</file>

<file path=ppt/tags/tag24.xml><?xml version="1.0" encoding="utf-8"?>
<p:tagLst xmlns:p="http://schemas.openxmlformats.org/presentationml/2006/main">
  <p:tag name="KSO_WM_DIAGRAM_VIRTUALLY_FRAME" val="{&quot;height&quot;:100,&quot;left&quot;:200,&quot;top&quot;:248,&quot;width&quot;:1040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5115</Words>
  <Application>WPS 演示</Application>
  <PresentationFormat>On-screen Show (16:9)</PresentationFormat>
  <Paragraphs>639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宋体</vt:lpstr>
      <vt:lpstr>Wingdings</vt:lpstr>
      <vt:lpstr>Quattrocento Sans</vt:lpstr>
      <vt:lpstr>Quattrocento Sans</vt:lpstr>
      <vt:lpstr>Quattrocento Sans</vt:lpstr>
      <vt:lpstr>QuattrocentoSans</vt:lpstr>
      <vt:lpstr>Segoe Print</vt:lpstr>
      <vt:lpstr>QuattrocentoSans</vt:lpstr>
      <vt:lpstr>QuattrocentoSans</vt:lpstr>
      <vt:lpstr>微软雅黑</vt:lpstr>
      <vt:lpstr>微软雅黑</vt:lpstr>
      <vt:lpstr>Calibri</vt:lpstr>
      <vt:lpstr>Arial Unicode MS</vt:lpstr>
      <vt:lpstr>等线</vt:lpstr>
      <vt:lpstr>MingLiU-ExtB</vt:lpstr>
      <vt:lpstr>MS PGothic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学生成绩数据库系统设计 - 期中汇报</dc:title>
  <dc:creator>Kimi</dc:creator>
  <dc:subject>学生成绩数据库系统设计 - 期中汇报</dc:subject>
  <cp:lastModifiedBy>CR7</cp:lastModifiedBy>
  <cp:revision>9</cp:revision>
  <dcterms:created xsi:type="dcterms:W3CDTF">2026-05-05T11:50:00Z</dcterms:created>
  <dcterms:modified xsi:type="dcterms:W3CDTF">2026-05-05T15:04:58Z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{"Label":"学生成绩数据库系统设计 - 期中汇报","ContentProducer":"001191110108MACG2KBH8F10000","ProduceID":"19df7f6e-c222-861d-8000-0000418e3c9e","ReservedCode1":"","ContentPropagator":"001191110108MACG2KBH8F20000","PropagateID":"19df7f6e-c222-861d-8000-0000418e3c9e","ReservedCode2":""}</vt:lpwstr>
  </property>
  <property fmtid="{D5CDD505-2E9C-101B-9397-08002B2CF9AE}" pid="3" name="KSOProductBuildVer">
    <vt:lpwstr>2052-12.1.0.26375</vt:lpwstr>
  </property>
  <property fmtid="{D5CDD505-2E9C-101B-9397-08002B2CF9AE}" pid="4" name="ICV">
    <vt:lpwstr>988A247E1048425795BE2FA4B4ED218E_12</vt:lpwstr>
  </property>
</Properties>
</file>